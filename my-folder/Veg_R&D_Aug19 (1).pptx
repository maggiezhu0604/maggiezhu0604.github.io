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86" r:id="rId5"/>
    <p:sldId id="283" r:id="rId6"/>
    <p:sldId id="282" r:id="rId7"/>
    <p:sldId id="278" r:id="rId8"/>
    <p:sldId id="294" r:id="rId9"/>
    <p:sldId id="292" r:id="rId10"/>
    <p:sldId id="295" r:id="rId11"/>
    <p:sldId id="274" r:id="rId12"/>
    <p:sldId id="279" r:id="rId13"/>
    <p:sldId id="263" r:id="rId14"/>
    <p:sldId id="287"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C61F"/>
    <a:srgbClr val="00BCFF"/>
    <a:srgbClr val="66B512"/>
    <a:srgbClr val="10384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759AC-0DFA-4F22-BACB-D1F8E15F2B64}" v="16" dt="2021-08-12T12:40:43.9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2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Braun" userId="91cf4f27-79f2-4589-8b16-801ac97dd61b" providerId="ADAL" clId="{819D44B1-A94A-4B75-A8F1-A865670FFF55}"/>
    <pc:docChg chg="undo custSel modSld">
      <pc:chgData name="Sarah Braun" userId="91cf4f27-79f2-4589-8b16-801ac97dd61b" providerId="ADAL" clId="{819D44B1-A94A-4B75-A8F1-A865670FFF55}" dt="2021-08-09T17:57:37.772" v="215" actId="208"/>
      <pc:docMkLst>
        <pc:docMk/>
      </pc:docMkLst>
      <pc:sldChg chg="modSp mod">
        <pc:chgData name="Sarah Braun" userId="91cf4f27-79f2-4589-8b16-801ac97dd61b" providerId="ADAL" clId="{819D44B1-A94A-4B75-A8F1-A865670FFF55}" dt="2021-08-09T17:34:44.504" v="79" actId="255"/>
        <pc:sldMkLst>
          <pc:docMk/>
          <pc:sldMk cId="3631075389" sldId="282"/>
        </pc:sldMkLst>
        <pc:spChg chg="mod">
          <ac:chgData name="Sarah Braun" userId="91cf4f27-79f2-4589-8b16-801ac97dd61b" providerId="ADAL" clId="{819D44B1-A94A-4B75-A8F1-A865670FFF55}" dt="2021-08-09T17:17:56.595" v="7" actId="20577"/>
          <ac:spMkLst>
            <pc:docMk/>
            <pc:sldMk cId="3631075389" sldId="282"/>
            <ac:spMk id="3" creationId="{DDF07F9B-89A1-4D35-9DF2-891637E2A08D}"/>
          </ac:spMkLst>
        </pc:spChg>
        <pc:spChg chg="mod">
          <ac:chgData name="Sarah Braun" userId="91cf4f27-79f2-4589-8b16-801ac97dd61b" providerId="ADAL" clId="{819D44B1-A94A-4B75-A8F1-A865670FFF55}" dt="2021-08-09T17:14:02.640" v="5" actId="1076"/>
          <ac:spMkLst>
            <pc:docMk/>
            <pc:sldMk cId="3631075389" sldId="282"/>
            <ac:spMk id="37" creationId="{88576262-891F-4941-ACD8-D3857167DCB2}"/>
          </ac:spMkLst>
        </pc:spChg>
        <pc:spChg chg="mod">
          <ac:chgData name="Sarah Braun" userId="91cf4f27-79f2-4589-8b16-801ac97dd61b" providerId="ADAL" clId="{819D44B1-A94A-4B75-A8F1-A865670FFF55}" dt="2021-08-09T17:34:44.504" v="79" actId="255"/>
          <ac:spMkLst>
            <pc:docMk/>
            <pc:sldMk cId="3631075389" sldId="282"/>
            <ac:spMk id="39" creationId="{D5E30ABE-42FE-4DBE-9837-917E3ACC9E49}"/>
          </ac:spMkLst>
        </pc:spChg>
      </pc:sldChg>
      <pc:sldChg chg="addSp delSp modSp mod">
        <pc:chgData name="Sarah Braun" userId="91cf4f27-79f2-4589-8b16-801ac97dd61b" providerId="ADAL" clId="{819D44B1-A94A-4B75-A8F1-A865670FFF55}" dt="2021-08-09T17:57:37.772" v="215" actId="208"/>
        <pc:sldMkLst>
          <pc:docMk/>
          <pc:sldMk cId="3264611834" sldId="286"/>
        </pc:sldMkLst>
        <pc:spChg chg="del">
          <ac:chgData name="Sarah Braun" userId="91cf4f27-79f2-4589-8b16-801ac97dd61b" providerId="ADAL" clId="{819D44B1-A94A-4B75-A8F1-A865670FFF55}" dt="2021-08-09T17:54:05.751" v="80" actId="478"/>
          <ac:spMkLst>
            <pc:docMk/>
            <pc:sldMk cId="3264611834" sldId="286"/>
            <ac:spMk id="2" creationId="{20EF0C1E-4708-426B-84B3-F4182E020B22}"/>
          </ac:spMkLst>
        </pc:spChg>
        <pc:spChg chg="mod">
          <ac:chgData name="Sarah Braun" userId="91cf4f27-79f2-4589-8b16-801ac97dd61b" providerId="ADAL" clId="{819D44B1-A94A-4B75-A8F1-A865670FFF55}" dt="2021-08-09T17:57:26.601" v="213" actId="1076"/>
          <ac:spMkLst>
            <pc:docMk/>
            <pc:sldMk cId="3264611834" sldId="286"/>
            <ac:spMk id="5" creationId="{343698DD-9B81-494B-88C6-1CDD779E0BE9}"/>
          </ac:spMkLst>
        </pc:spChg>
        <pc:spChg chg="add del mod">
          <ac:chgData name="Sarah Braun" userId="91cf4f27-79f2-4589-8b16-801ac97dd61b" providerId="ADAL" clId="{819D44B1-A94A-4B75-A8F1-A865670FFF55}" dt="2021-08-09T17:54:13.009" v="81" actId="478"/>
          <ac:spMkLst>
            <pc:docMk/>
            <pc:sldMk cId="3264611834" sldId="286"/>
            <ac:spMk id="7" creationId="{2F5AC430-09FF-4E22-B885-30EDAA4F91D7}"/>
          </ac:spMkLst>
        </pc:spChg>
        <pc:spChg chg="add mod">
          <ac:chgData name="Sarah Braun" userId="91cf4f27-79f2-4589-8b16-801ac97dd61b" providerId="ADAL" clId="{819D44B1-A94A-4B75-A8F1-A865670FFF55}" dt="2021-08-09T17:54:19.535" v="84" actId="1076"/>
          <ac:spMkLst>
            <pc:docMk/>
            <pc:sldMk cId="3264611834" sldId="286"/>
            <ac:spMk id="8" creationId="{2C838210-C5DB-429E-B0C8-BAF0CA554D4C}"/>
          </ac:spMkLst>
        </pc:spChg>
        <pc:spChg chg="add mod">
          <ac:chgData name="Sarah Braun" userId="91cf4f27-79f2-4589-8b16-801ac97dd61b" providerId="ADAL" clId="{819D44B1-A94A-4B75-A8F1-A865670FFF55}" dt="2021-08-09T17:54:50.690" v="120" actId="1076"/>
          <ac:spMkLst>
            <pc:docMk/>
            <pc:sldMk cId="3264611834" sldId="286"/>
            <ac:spMk id="9" creationId="{ECBF4FF3-B766-4F90-AA32-5B5ADE54B32D}"/>
          </ac:spMkLst>
        </pc:spChg>
        <pc:spChg chg="add mod">
          <ac:chgData name="Sarah Braun" userId="91cf4f27-79f2-4589-8b16-801ac97dd61b" providerId="ADAL" clId="{819D44B1-A94A-4B75-A8F1-A865670FFF55}" dt="2021-08-09T17:57:37.772" v="215" actId="208"/>
          <ac:spMkLst>
            <pc:docMk/>
            <pc:sldMk cId="3264611834" sldId="286"/>
            <ac:spMk id="10" creationId="{375ACCD4-5DC0-435F-AF59-636920131592}"/>
          </ac:spMkLst>
        </pc:spChg>
      </pc:sldChg>
    </pc:docChg>
  </pc:docChgLst>
  <pc:docChgLst>
    <pc:chgData name="Dan Zhu" userId="22428f1a-514b-4102-b2b6-8a6e460a7be6" providerId="ADAL" clId="{406759AC-0DFA-4F22-BACB-D1F8E15F2B64}"/>
    <pc:docChg chg="custSel addSld delSld modSld sldOrd">
      <pc:chgData name="Dan Zhu" userId="22428f1a-514b-4102-b2b6-8a6e460a7be6" providerId="ADAL" clId="{406759AC-0DFA-4F22-BACB-D1F8E15F2B64}" dt="2021-08-12T12:42:15.374" v="114" actId="1076"/>
      <pc:docMkLst>
        <pc:docMk/>
      </pc:docMkLst>
      <pc:sldChg chg="delSp mod ord">
        <pc:chgData name="Dan Zhu" userId="22428f1a-514b-4102-b2b6-8a6e460a7be6" providerId="ADAL" clId="{406759AC-0DFA-4F22-BACB-D1F8E15F2B64}" dt="2021-08-12T12:29:06.744" v="12" actId="478"/>
        <pc:sldMkLst>
          <pc:docMk/>
          <pc:sldMk cId="4017750748" sldId="274"/>
        </pc:sldMkLst>
        <pc:picChg chg="del">
          <ac:chgData name="Dan Zhu" userId="22428f1a-514b-4102-b2b6-8a6e460a7be6" providerId="ADAL" clId="{406759AC-0DFA-4F22-BACB-D1F8E15F2B64}" dt="2021-08-12T12:29:06.744" v="12" actId="478"/>
          <ac:picMkLst>
            <pc:docMk/>
            <pc:sldMk cId="4017750748" sldId="274"/>
            <ac:picMk id="5" creationId="{278C891C-8AB3-4591-BD26-D236E5747D7F}"/>
          </ac:picMkLst>
        </pc:picChg>
      </pc:sldChg>
      <pc:sldChg chg="del">
        <pc:chgData name="Dan Zhu" userId="22428f1a-514b-4102-b2b6-8a6e460a7be6" providerId="ADAL" clId="{406759AC-0DFA-4F22-BACB-D1F8E15F2B64}" dt="2021-08-12T12:29:35.662" v="13" actId="2696"/>
        <pc:sldMkLst>
          <pc:docMk/>
          <pc:sldMk cId="4079250636" sldId="276"/>
        </pc:sldMkLst>
      </pc:sldChg>
      <pc:sldChg chg="addSp modSp del ord">
        <pc:chgData name="Dan Zhu" userId="22428f1a-514b-4102-b2b6-8a6e460a7be6" providerId="ADAL" clId="{406759AC-0DFA-4F22-BACB-D1F8E15F2B64}" dt="2021-08-12T12:36:04.410" v="18" actId="2696"/>
        <pc:sldMkLst>
          <pc:docMk/>
          <pc:sldMk cId="3699988697" sldId="280"/>
        </pc:sldMkLst>
        <pc:picChg chg="add mod">
          <ac:chgData name="Dan Zhu" userId="22428f1a-514b-4102-b2b6-8a6e460a7be6" providerId="ADAL" clId="{406759AC-0DFA-4F22-BACB-D1F8E15F2B64}" dt="2021-08-12T12:28:55.410" v="11" actId="14100"/>
          <ac:picMkLst>
            <pc:docMk/>
            <pc:sldMk cId="3699988697" sldId="280"/>
            <ac:picMk id="1026" creationId="{47C43152-F637-447E-9087-7B30DFCA4845}"/>
          </ac:picMkLst>
        </pc:picChg>
      </pc:sldChg>
      <pc:sldChg chg="del">
        <pc:chgData name="Dan Zhu" userId="22428f1a-514b-4102-b2b6-8a6e460a7be6" providerId="ADAL" clId="{406759AC-0DFA-4F22-BACB-D1F8E15F2B64}" dt="2021-08-12T12:29:38.043" v="14" actId="2696"/>
        <pc:sldMkLst>
          <pc:docMk/>
          <pc:sldMk cId="3042293327" sldId="281"/>
        </pc:sldMkLst>
      </pc:sldChg>
      <pc:sldChg chg="addSp delSp modSp add mod">
        <pc:chgData name="Dan Zhu" userId="22428f1a-514b-4102-b2b6-8a6e460a7be6" providerId="ADAL" clId="{406759AC-0DFA-4F22-BACB-D1F8E15F2B64}" dt="2021-08-12T12:42:15.374" v="114" actId="1076"/>
        <pc:sldMkLst>
          <pc:docMk/>
          <pc:sldMk cId="4190562527" sldId="292"/>
        </pc:sldMkLst>
        <pc:spChg chg="mod">
          <ac:chgData name="Dan Zhu" userId="22428f1a-514b-4102-b2b6-8a6e460a7be6" providerId="ADAL" clId="{406759AC-0DFA-4F22-BACB-D1F8E15F2B64}" dt="2021-08-12T12:42:15.374" v="114" actId="1076"/>
          <ac:spMkLst>
            <pc:docMk/>
            <pc:sldMk cId="4190562527" sldId="292"/>
            <ac:spMk id="3" creationId="{1AD1B1AE-50DF-4F3F-9F11-468403B8B66B}"/>
          </ac:spMkLst>
        </pc:spChg>
        <pc:spChg chg="add mod">
          <ac:chgData name="Dan Zhu" userId="22428f1a-514b-4102-b2b6-8a6e460a7be6" providerId="ADAL" clId="{406759AC-0DFA-4F22-BACB-D1F8E15F2B64}" dt="2021-08-12T12:40:32.759" v="52" actId="1038"/>
          <ac:spMkLst>
            <pc:docMk/>
            <pc:sldMk cId="4190562527" sldId="292"/>
            <ac:spMk id="4" creationId="{788608B5-7598-4E18-8955-32BBFF78A3DE}"/>
          </ac:spMkLst>
        </pc:spChg>
        <pc:spChg chg="add mod">
          <ac:chgData name="Dan Zhu" userId="22428f1a-514b-4102-b2b6-8a6e460a7be6" providerId="ADAL" clId="{406759AC-0DFA-4F22-BACB-D1F8E15F2B64}" dt="2021-08-12T12:40:25.778" v="44" actId="1076"/>
          <ac:spMkLst>
            <pc:docMk/>
            <pc:sldMk cId="4190562527" sldId="292"/>
            <ac:spMk id="5" creationId="{131C796D-832E-4541-9DD2-4BE68FA7BB2E}"/>
          </ac:spMkLst>
        </pc:spChg>
        <pc:spChg chg="add del mod">
          <ac:chgData name="Dan Zhu" userId="22428f1a-514b-4102-b2b6-8a6e460a7be6" providerId="ADAL" clId="{406759AC-0DFA-4F22-BACB-D1F8E15F2B64}" dt="2021-08-12T12:39:16.481" v="21" actId="478"/>
          <ac:spMkLst>
            <pc:docMk/>
            <pc:sldMk cId="4190562527" sldId="292"/>
            <ac:spMk id="12" creationId="{3CDDB0C2-014C-4BBF-B7E9-E48EBCC8DBCA}"/>
          </ac:spMkLst>
        </pc:spChg>
        <pc:spChg chg="mod">
          <ac:chgData name="Dan Zhu" userId="22428f1a-514b-4102-b2b6-8a6e460a7be6" providerId="ADAL" clId="{406759AC-0DFA-4F22-BACB-D1F8E15F2B64}" dt="2021-08-12T12:41:37.215" v="107" actId="1076"/>
          <ac:spMkLst>
            <pc:docMk/>
            <pc:sldMk cId="4190562527" sldId="292"/>
            <ac:spMk id="14" creationId="{6E26025F-F91C-412C-AF44-5BBA37899D99}"/>
          </ac:spMkLst>
        </pc:spChg>
        <pc:spChg chg="add mod">
          <ac:chgData name="Dan Zhu" userId="22428f1a-514b-4102-b2b6-8a6e460a7be6" providerId="ADAL" clId="{406759AC-0DFA-4F22-BACB-D1F8E15F2B64}" dt="2021-08-12T12:42:00.022" v="112" actId="1076"/>
          <ac:spMkLst>
            <pc:docMk/>
            <pc:sldMk cId="4190562527" sldId="292"/>
            <ac:spMk id="16" creationId="{43630B98-794E-4C07-AB6D-5109CF50D5E8}"/>
          </ac:spMkLst>
        </pc:spChg>
        <pc:picChg chg="mod">
          <ac:chgData name="Dan Zhu" userId="22428f1a-514b-4102-b2b6-8a6e460a7be6" providerId="ADAL" clId="{406759AC-0DFA-4F22-BACB-D1F8E15F2B64}" dt="2021-08-12T12:41:50.519" v="111" actId="1037"/>
          <ac:picMkLst>
            <pc:docMk/>
            <pc:sldMk cId="4190562527" sldId="292"/>
            <ac:picMk id="11" creationId="{361E968A-41EA-4D36-81CB-432EAF2BA00E}"/>
          </ac:picMkLst>
        </pc:picChg>
      </pc:sldChg>
      <pc:sldChg chg="add">
        <pc:chgData name="Dan Zhu" userId="22428f1a-514b-4102-b2b6-8a6e460a7be6" providerId="ADAL" clId="{406759AC-0DFA-4F22-BACB-D1F8E15F2B64}" dt="2021-08-12T12:35:42.997" v="15"/>
        <pc:sldMkLst>
          <pc:docMk/>
          <pc:sldMk cId="1591002181" sldId="294"/>
        </pc:sldMkLst>
      </pc:sldChg>
      <pc:sldChg chg="add setBg">
        <pc:chgData name="Dan Zhu" userId="22428f1a-514b-4102-b2b6-8a6e460a7be6" providerId="ADAL" clId="{406759AC-0DFA-4F22-BACB-D1F8E15F2B64}" dt="2021-08-12T12:35:58.535" v="17"/>
        <pc:sldMkLst>
          <pc:docMk/>
          <pc:sldMk cId="2448622870" sldId="29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5EB4F-1106-47FA-A0C0-8279B8E84754}" type="doc">
      <dgm:prSet loTypeId="urn:microsoft.com/office/officeart/2005/8/layout/pyramid3" loCatId="pyramid" qsTypeId="urn:microsoft.com/office/officeart/2005/8/quickstyle/simple1" qsCatId="simple" csTypeId="urn:microsoft.com/office/officeart/2005/8/colors/accent1_2" csCatId="accent1" phldr="1"/>
      <dgm:spPr/>
    </dgm:pt>
    <dgm:pt modelId="{07F091F4-1441-424C-9EFB-8007553D7D37}">
      <dgm:prSet phldrT="[Text]" custT="1"/>
      <dgm:spPr/>
      <dgm:t>
        <a:bodyPr/>
        <a:lstStyle/>
        <a:p>
          <a:r>
            <a:rPr lang="en-US" sz="2200"/>
            <a:t>Screening 1</a:t>
          </a:r>
        </a:p>
      </dgm:t>
    </dgm:pt>
    <dgm:pt modelId="{3DDA881F-1D2F-41CC-84CC-F5A6CA58367E}" type="parTrans" cxnId="{98E26643-C6DA-44FE-B41F-0663D945465F}">
      <dgm:prSet/>
      <dgm:spPr/>
      <dgm:t>
        <a:bodyPr/>
        <a:lstStyle/>
        <a:p>
          <a:endParaRPr lang="en-US"/>
        </a:p>
      </dgm:t>
    </dgm:pt>
    <dgm:pt modelId="{4C042FDA-0B63-49CC-AE8F-383AB4D985FB}" type="sibTrans" cxnId="{98E26643-C6DA-44FE-B41F-0663D945465F}">
      <dgm:prSet/>
      <dgm:spPr/>
      <dgm:t>
        <a:bodyPr/>
        <a:lstStyle/>
        <a:p>
          <a:endParaRPr lang="en-US"/>
        </a:p>
      </dgm:t>
    </dgm:pt>
    <dgm:pt modelId="{C4487480-DAF5-487E-8EFA-DA09914E105F}">
      <dgm:prSet phldrT="[Text]" custT="1"/>
      <dgm:spPr/>
      <dgm:t>
        <a:bodyPr/>
        <a:lstStyle/>
        <a:p>
          <a:r>
            <a:rPr lang="en-US" sz="2200"/>
            <a:t>Screening2</a:t>
          </a:r>
        </a:p>
      </dgm:t>
    </dgm:pt>
    <dgm:pt modelId="{63E5EDB6-2934-4033-935D-EECD1F5571A4}" type="parTrans" cxnId="{D9EC336E-9C1D-43E6-BCBE-3ED2412CDD42}">
      <dgm:prSet/>
      <dgm:spPr/>
      <dgm:t>
        <a:bodyPr/>
        <a:lstStyle/>
        <a:p>
          <a:endParaRPr lang="en-US"/>
        </a:p>
      </dgm:t>
    </dgm:pt>
    <dgm:pt modelId="{EEF8DCBB-1329-4EF8-B22C-638585C29755}" type="sibTrans" cxnId="{D9EC336E-9C1D-43E6-BCBE-3ED2412CDD42}">
      <dgm:prSet/>
      <dgm:spPr/>
      <dgm:t>
        <a:bodyPr/>
        <a:lstStyle/>
        <a:p>
          <a:endParaRPr lang="en-US"/>
        </a:p>
      </dgm:t>
    </dgm:pt>
    <dgm:pt modelId="{3B58217A-D085-4DD6-A82D-C5B944D63316}">
      <dgm:prSet phldrT="[Text]" custT="1"/>
      <dgm:spPr/>
      <dgm:t>
        <a:bodyPr/>
        <a:lstStyle/>
        <a:p>
          <a:r>
            <a:rPr lang="en-US" sz="2200"/>
            <a:t>PCM3</a:t>
          </a:r>
        </a:p>
      </dgm:t>
    </dgm:pt>
    <dgm:pt modelId="{3782D1F9-EFFD-4DD4-8E11-4FA209591144}" type="parTrans" cxnId="{1F457534-B60E-4DB3-A860-DD08E644995C}">
      <dgm:prSet/>
      <dgm:spPr/>
      <dgm:t>
        <a:bodyPr/>
        <a:lstStyle/>
        <a:p>
          <a:endParaRPr lang="en-US"/>
        </a:p>
      </dgm:t>
    </dgm:pt>
    <dgm:pt modelId="{9E8FC271-CBDE-46B0-8E03-FF011C5CA971}" type="sibTrans" cxnId="{1F457534-B60E-4DB3-A860-DD08E644995C}">
      <dgm:prSet/>
      <dgm:spPr/>
      <dgm:t>
        <a:bodyPr/>
        <a:lstStyle/>
        <a:p>
          <a:endParaRPr lang="en-US"/>
        </a:p>
      </dgm:t>
    </dgm:pt>
    <dgm:pt modelId="{12E1CB01-7352-4C0F-A922-56B58B98CA5C}">
      <dgm:prSet custT="1"/>
      <dgm:spPr/>
      <dgm:t>
        <a:bodyPr/>
        <a:lstStyle/>
        <a:p>
          <a:r>
            <a:rPr lang="en-US" sz="2200"/>
            <a:t>PCM1</a:t>
          </a:r>
        </a:p>
      </dgm:t>
    </dgm:pt>
    <dgm:pt modelId="{8E8514F7-88C9-455E-BCCF-878E102825CB}" type="parTrans" cxnId="{4D874CF1-679D-4BAC-865E-4DD650CDE9F0}">
      <dgm:prSet/>
      <dgm:spPr/>
      <dgm:t>
        <a:bodyPr/>
        <a:lstStyle/>
        <a:p>
          <a:endParaRPr lang="en-US"/>
        </a:p>
      </dgm:t>
    </dgm:pt>
    <dgm:pt modelId="{BC77E885-061B-4427-9402-BE1F1134BF3E}" type="sibTrans" cxnId="{4D874CF1-679D-4BAC-865E-4DD650CDE9F0}">
      <dgm:prSet/>
      <dgm:spPr/>
      <dgm:t>
        <a:bodyPr/>
        <a:lstStyle/>
        <a:p>
          <a:endParaRPr lang="en-US"/>
        </a:p>
      </dgm:t>
    </dgm:pt>
    <dgm:pt modelId="{57B9AC78-B725-4583-AC40-536685167E2D}">
      <dgm:prSet custT="1"/>
      <dgm:spPr/>
      <dgm:t>
        <a:bodyPr/>
        <a:lstStyle/>
        <a:p>
          <a:r>
            <a:rPr lang="en-US" sz="2200"/>
            <a:t>PCM2</a:t>
          </a:r>
        </a:p>
      </dgm:t>
    </dgm:pt>
    <dgm:pt modelId="{0FBD9F82-FF49-4298-92DB-32C78947D749}" type="parTrans" cxnId="{5D479BA8-097F-465C-AECE-57864B90B359}">
      <dgm:prSet/>
      <dgm:spPr/>
      <dgm:t>
        <a:bodyPr/>
        <a:lstStyle/>
        <a:p>
          <a:endParaRPr lang="en-US"/>
        </a:p>
      </dgm:t>
    </dgm:pt>
    <dgm:pt modelId="{26B649FF-D0CD-4ECD-B5F3-754377C316A5}" type="sibTrans" cxnId="{5D479BA8-097F-465C-AECE-57864B90B359}">
      <dgm:prSet/>
      <dgm:spPr/>
      <dgm:t>
        <a:bodyPr/>
        <a:lstStyle/>
        <a:p>
          <a:endParaRPr lang="en-US"/>
        </a:p>
      </dgm:t>
    </dgm:pt>
    <dgm:pt modelId="{C09AD4BB-0889-4444-B918-3151602B3A2C}" type="pres">
      <dgm:prSet presAssocID="{9DB5EB4F-1106-47FA-A0C0-8279B8E84754}" presName="Name0" presStyleCnt="0">
        <dgm:presLayoutVars>
          <dgm:dir/>
          <dgm:animLvl val="lvl"/>
          <dgm:resizeHandles val="exact"/>
        </dgm:presLayoutVars>
      </dgm:prSet>
      <dgm:spPr/>
    </dgm:pt>
    <dgm:pt modelId="{C046D140-7A9D-4282-89A9-864D637C9E9A}" type="pres">
      <dgm:prSet presAssocID="{07F091F4-1441-424C-9EFB-8007553D7D37}" presName="Name8" presStyleCnt="0"/>
      <dgm:spPr/>
    </dgm:pt>
    <dgm:pt modelId="{9260E937-A2C7-426F-ADE0-5E50E9280784}" type="pres">
      <dgm:prSet presAssocID="{07F091F4-1441-424C-9EFB-8007553D7D37}" presName="level" presStyleLbl="node1" presStyleIdx="0" presStyleCnt="5">
        <dgm:presLayoutVars>
          <dgm:chMax val="1"/>
          <dgm:bulletEnabled val="1"/>
        </dgm:presLayoutVars>
      </dgm:prSet>
      <dgm:spPr/>
    </dgm:pt>
    <dgm:pt modelId="{BBA2B4F5-7700-42D8-8D4E-93F7CA4E386F}" type="pres">
      <dgm:prSet presAssocID="{07F091F4-1441-424C-9EFB-8007553D7D37}" presName="levelTx" presStyleLbl="revTx" presStyleIdx="0" presStyleCnt="0">
        <dgm:presLayoutVars>
          <dgm:chMax val="1"/>
          <dgm:bulletEnabled val="1"/>
        </dgm:presLayoutVars>
      </dgm:prSet>
      <dgm:spPr/>
    </dgm:pt>
    <dgm:pt modelId="{E1D36BF9-DC51-4E77-B3A8-58CA01BC6CEA}" type="pres">
      <dgm:prSet presAssocID="{C4487480-DAF5-487E-8EFA-DA09914E105F}" presName="Name8" presStyleCnt="0"/>
      <dgm:spPr/>
    </dgm:pt>
    <dgm:pt modelId="{55F888A8-AC1E-4F52-8C2C-EC951D7D5952}" type="pres">
      <dgm:prSet presAssocID="{C4487480-DAF5-487E-8EFA-DA09914E105F}" presName="level" presStyleLbl="node1" presStyleIdx="1" presStyleCnt="5">
        <dgm:presLayoutVars>
          <dgm:chMax val="1"/>
          <dgm:bulletEnabled val="1"/>
        </dgm:presLayoutVars>
      </dgm:prSet>
      <dgm:spPr/>
    </dgm:pt>
    <dgm:pt modelId="{6D90562E-B66C-45D1-981F-411CED8458CB}" type="pres">
      <dgm:prSet presAssocID="{C4487480-DAF5-487E-8EFA-DA09914E105F}" presName="levelTx" presStyleLbl="revTx" presStyleIdx="0" presStyleCnt="0">
        <dgm:presLayoutVars>
          <dgm:chMax val="1"/>
          <dgm:bulletEnabled val="1"/>
        </dgm:presLayoutVars>
      </dgm:prSet>
      <dgm:spPr/>
    </dgm:pt>
    <dgm:pt modelId="{E5DAE192-A1B6-44FB-88F7-2B931E1BB910}" type="pres">
      <dgm:prSet presAssocID="{12E1CB01-7352-4C0F-A922-56B58B98CA5C}" presName="Name8" presStyleCnt="0"/>
      <dgm:spPr/>
    </dgm:pt>
    <dgm:pt modelId="{7B710320-6AFA-4889-A14C-717AE9D97E3D}" type="pres">
      <dgm:prSet presAssocID="{12E1CB01-7352-4C0F-A922-56B58B98CA5C}" presName="level" presStyleLbl="node1" presStyleIdx="2" presStyleCnt="5">
        <dgm:presLayoutVars>
          <dgm:chMax val="1"/>
          <dgm:bulletEnabled val="1"/>
        </dgm:presLayoutVars>
      </dgm:prSet>
      <dgm:spPr/>
    </dgm:pt>
    <dgm:pt modelId="{536A6D8E-5453-49E3-846C-CC0BC9FC0A59}" type="pres">
      <dgm:prSet presAssocID="{12E1CB01-7352-4C0F-A922-56B58B98CA5C}" presName="levelTx" presStyleLbl="revTx" presStyleIdx="0" presStyleCnt="0">
        <dgm:presLayoutVars>
          <dgm:chMax val="1"/>
          <dgm:bulletEnabled val="1"/>
        </dgm:presLayoutVars>
      </dgm:prSet>
      <dgm:spPr/>
    </dgm:pt>
    <dgm:pt modelId="{DAE52FA8-D3B7-4C25-B08D-312B0BFC299E}" type="pres">
      <dgm:prSet presAssocID="{57B9AC78-B725-4583-AC40-536685167E2D}" presName="Name8" presStyleCnt="0"/>
      <dgm:spPr/>
    </dgm:pt>
    <dgm:pt modelId="{1E29CA2E-E905-41A9-B65B-472EDB972E53}" type="pres">
      <dgm:prSet presAssocID="{57B9AC78-B725-4583-AC40-536685167E2D}" presName="level" presStyleLbl="node1" presStyleIdx="3" presStyleCnt="5">
        <dgm:presLayoutVars>
          <dgm:chMax val="1"/>
          <dgm:bulletEnabled val="1"/>
        </dgm:presLayoutVars>
      </dgm:prSet>
      <dgm:spPr/>
    </dgm:pt>
    <dgm:pt modelId="{F616A4F5-4D4A-421B-A919-C33604E66DA7}" type="pres">
      <dgm:prSet presAssocID="{57B9AC78-B725-4583-AC40-536685167E2D}" presName="levelTx" presStyleLbl="revTx" presStyleIdx="0" presStyleCnt="0">
        <dgm:presLayoutVars>
          <dgm:chMax val="1"/>
          <dgm:bulletEnabled val="1"/>
        </dgm:presLayoutVars>
      </dgm:prSet>
      <dgm:spPr/>
    </dgm:pt>
    <dgm:pt modelId="{2C042439-68D3-4F3A-8500-585B179AC308}" type="pres">
      <dgm:prSet presAssocID="{3B58217A-D085-4DD6-A82D-C5B944D63316}" presName="Name8" presStyleCnt="0"/>
      <dgm:spPr/>
    </dgm:pt>
    <dgm:pt modelId="{10478241-D5C9-400E-916D-2EB95590E7A4}" type="pres">
      <dgm:prSet presAssocID="{3B58217A-D085-4DD6-A82D-C5B944D63316}" presName="level" presStyleLbl="node1" presStyleIdx="4" presStyleCnt="5" custScaleX="93974">
        <dgm:presLayoutVars>
          <dgm:chMax val="1"/>
          <dgm:bulletEnabled val="1"/>
        </dgm:presLayoutVars>
      </dgm:prSet>
      <dgm:spPr/>
    </dgm:pt>
    <dgm:pt modelId="{9AA47A5E-B988-4949-89AF-22F9DE1C6771}" type="pres">
      <dgm:prSet presAssocID="{3B58217A-D085-4DD6-A82D-C5B944D63316}" presName="levelTx" presStyleLbl="revTx" presStyleIdx="0" presStyleCnt="0">
        <dgm:presLayoutVars>
          <dgm:chMax val="1"/>
          <dgm:bulletEnabled val="1"/>
        </dgm:presLayoutVars>
      </dgm:prSet>
      <dgm:spPr/>
    </dgm:pt>
  </dgm:ptLst>
  <dgm:cxnLst>
    <dgm:cxn modelId="{1F457534-B60E-4DB3-A860-DD08E644995C}" srcId="{9DB5EB4F-1106-47FA-A0C0-8279B8E84754}" destId="{3B58217A-D085-4DD6-A82D-C5B944D63316}" srcOrd="4" destOrd="0" parTransId="{3782D1F9-EFFD-4DD4-8E11-4FA209591144}" sibTransId="{9E8FC271-CBDE-46B0-8E03-FF011C5CA971}"/>
    <dgm:cxn modelId="{35D2533B-4B7C-426A-A00A-CD4F305DF920}" type="presOf" srcId="{C4487480-DAF5-487E-8EFA-DA09914E105F}" destId="{6D90562E-B66C-45D1-981F-411CED8458CB}" srcOrd="1" destOrd="0" presId="urn:microsoft.com/office/officeart/2005/8/layout/pyramid3"/>
    <dgm:cxn modelId="{67DF0E60-1511-4740-A6BC-E9CADCA9704C}" type="presOf" srcId="{9DB5EB4F-1106-47FA-A0C0-8279B8E84754}" destId="{C09AD4BB-0889-4444-B918-3151602B3A2C}" srcOrd="0" destOrd="0" presId="urn:microsoft.com/office/officeart/2005/8/layout/pyramid3"/>
    <dgm:cxn modelId="{98E26643-C6DA-44FE-B41F-0663D945465F}" srcId="{9DB5EB4F-1106-47FA-A0C0-8279B8E84754}" destId="{07F091F4-1441-424C-9EFB-8007553D7D37}" srcOrd="0" destOrd="0" parTransId="{3DDA881F-1D2F-41CC-84CC-F5A6CA58367E}" sibTransId="{4C042FDA-0B63-49CC-AE8F-383AB4D985FB}"/>
    <dgm:cxn modelId="{B23A6B45-96E6-4909-BB93-EB0F30E8DE42}" type="presOf" srcId="{3B58217A-D085-4DD6-A82D-C5B944D63316}" destId="{10478241-D5C9-400E-916D-2EB95590E7A4}" srcOrd="0" destOrd="0" presId="urn:microsoft.com/office/officeart/2005/8/layout/pyramid3"/>
    <dgm:cxn modelId="{D9EC336E-9C1D-43E6-BCBE-3ED2412CDD42}" srcId="{9DB5EB4F-1106-47FA-A0C0-8279B8E84754}" destId="{C4487480-DAF5-487E-8EFA-DA09914E105F}" srcOrd="1" destOrd="0" parTransId="{63E5EDB6-2934-4033-935D-EECD1F5571A4}" sibTransId="{EEF8DCBB-1329-4EF8-B22C-638585C29755}"/>
    <dgm:cxn modelId="{A0020370-90BB-4E63-9C09-1635DF9FBD04}" type="presOf" srcId="{57B9AC78-B725-4583-AC40-536685167E2D}" destId="{1E29CA2E-E905-41A9-B65B-472EDB972E53}" srcOrd="0" destOrd="0" presId="urn:microsoft.com/office/officeart/2005/8/layout/pyramid3"/>
    <dgm:cxn modelId="{88297170-0661-45B1-869A-AD8CF29AA01A}" type="presOf" srcId="{07F091F4-1441-424C-9EFB-8007553D7D37}" destId="{9260E937-A2C7-426F-ADE0-5E50E9280784}" srcOrd="0" destOrd="0" presId="urn:microsoft.com/office/officeart/2005/8/layout/pyramid3"/>
    <dgm:cxn modelId="{ACBD6A77-0B5B-4430-A617-C97D9154CF21}" type="presOf" srcId="{57B9AC78-B725-4583-AC40-536685167E2D}" destId="{F616A4F5-4D4A-421B-A919-C33604E66DA7}" srcOrd="1" destOrd="0" presId="urn:microsoft.com/office/officeart/2005/8/layout/pyramid3"/>
    <dgm:cxn modelId="{5D479BA8-097F-465C-AECE-57864B90B359}" srcId="{9DB5EB4F-1106-47FA-A0C0-8279B8E84754}" destId="{57B9AC78-B725-4583-AC40-536685167E2D}" srcOrd="3" destOrd="0" parTransId="{0FBD9F82-FF49-4298-92DB-32C78947D749}" sibTransId="{26B649FF-D0CD-4ECD-B5F3-754377C316A5}"/>
    <dgm:cxn modelId="{9626A4BE-08AC-4C95-99F6-0070C21BEC97}" type="presOf" srcId="{12E1CB01-7352-4C0F-A922-56B58B98CA5C}" destId="{536A6D8E-5453-49E3-846C-CC0BC9FC0A59}" srcOrd="1" destOrd="0" presId="urn:microsoft.com/office/officeart/2005/8/layout/pyramid3"/>
    <dgm:cxn modelId="{048778C1-AFDA-4711-B7F9-1E8307CA5E3F}" type="presOf" srcId="{C4487480-DAF5-487E-8EFA-DA09914E105F}" destId="{55F888A8-AC1E-4F52-8C2C-EC951D7D5952}" srcOrd="0" destOrd="0" presId="urn:microsoft.com/office/officeart/2005/8/layout/pyramid3"/>
    <dgm:cxn modelId="{9D9B22E1-89BD-44D7-8C0A-EC2C99291F92}" type="presOf" srcId="{12E1CB01-7352-4C0F-A922-56B58B98CA5C}" destId="{7B710320-6AFA-4889-A14C-717AE9D97E3D}" srcOrd="0" destOrd="0" presId="urn:microsoft.com/office/officeart/2005/8/layout/pyramid3"/>
    <dgm:cxn modelId="{9CFD3DE2-33D4-4CD7-B9B5-0B28B6FF12FC}" type="presOf" srcId="{07F091F4-1441-424C-9EFB-8007553D7D37}" destId="{BBA2B4F5-7700-42D8-8D4E-93F7CA4E386F}" srcOrd="1" destOrd="0" presId="urn:microsoft.com/office/officeart/2005/8/layout/pyramid3"/>
    <dgm:cxn modelId="{EB64BCEE-3D6F-465D-AF5C-497B773BDE15}" type="presOf" srcId="{3B58217A-D085-4DD6-A82D-C5B944D63316}" destId="{9AA47A5E-B988-4949-89AF-22F9DE1C6771}" srcOrd="1" destOrd="0" presId="urn:microsoft.com/office/officeart/2005/8/layout/pyramid3"/>
    <dgm:cxn modelId="{4D874CF1-679D-4BAC-865E-4DD650CDE9F0}" srcId="{9DB5EB4F-1106-47FA-A0C0-8279B8E84754}" destId="{12E1CB01-7352-4C0F-A922-56B58B98CA5C}" srcOrd="2" destOrd="0" parTransId="{8E8514F7-88C9-455E-BCCF-878E102825CB}" sibTransId="{BC77E885-061B-4427-9402-BE1F1134BF3E}"/>
    <dgm:cxn modelId="{AFA4BCEA-17C2-4D98-B0C8-4EC021F53784}" type="presParOf" srcId="{C09AD4BB-0889-4444-B918-3151602B3A2C}" destId="{C046D140-7A9D-4282-89A9-864D637C9E9A}" srcOrd="0" destOrd="0" presId="urn:microsoft.com/office/officeart/2005/8/layout/pyramid3"/>
    <dgm:cxn modelId="{7A051584-72A8-4E19-95BB-B5D0AE0603A5}" type="presParOf" srcId="{C046D140-7A9D-4282-89A9-864D637C9E9A}" destId="{9260E937-A2C7-426F-ADE0-5E50E9280784}" srcOrd="0" destOrd="0" presId="urn:microsoft.com/office/officeart/2005/8/layout/pyramid3"/>
    <dgm:cxn modelId="{57AFB051-1E9F-4038-B5BA-FAC9B337B48E}" type="presParOf" srcId="{C046D140-7A9D-4282-89A9-864D637C9E9A}" destId="{BBA2B4F5-7700-42D8-8D4E-93F7CA4E386F}" srcOrd="1" destOrd="0" presId="urn:microsoft.com/office/officeart/2005/8/layout/pyramid3"/>
    <dgm:cxn modelId="{8AA760E3-DCF3-43CB-BDB4-45C8BBA91E57}" type="presParOf" srcId="{C09AD4BB-0889-4444-B918-3151602B3A2C}" destId="{E1D36BF9-DC51-4E77-B3A8-58CA01BC6CEA}" srcOrd="1" destOrd="0" presId="urn:microsoft.com/office/officeart/2005/8/layout/pyramid3"/>
    <dgm:cxn modelId="{6D128D99-ABF4-4120-B4F5-3CC2F2FB0FC9}" type="presParOf" srcId="{E1D36BF9-DC51-4E77-B3A8-58CA01BC6CEA}" destId="{55F888A8-AC1E-4F52-8C2C-EC951D7D5952}" srcOrd="0" destOrd="0" presId="urn:microsoft.com/office/officeart/2005/8/layout/pyramid3"/>
    <dgm:cxn modelId="{C010B4EB-5F14-4316-9133-8E90275DAB10}" type="presParOf" srcId="{E1D36BF9-DC51-4E77-B3A8-58CA01BC6CEA}" destId="{6D90562E-B66C-45D1-981F-411CED8458CB}" srcOrd="1" destOrd="0" presId="urn:microsoft.com/office/officeart/2005/8/layout/pyramid3"/>
    <dgm:cxn modelId="{7A7624C6-15DD-41A6-8088-0AA71F43B795}" type="presParOf" srcId="{C09AD4BB-0889-4444-B918-3151602B3A2C}" destId="{E5DAE192-A1B6-44FB-88F7-2B931E1BB910}" srcOrd="2" destOrd="0" presId="urn:microsoft.com/office/officeart/2005/8/layout/pyramid3"/>
    <dgm:cxn modelId="{5E99A946-894A-45D1-A2A7-37638752BD7B}" type="presParOf" srcId="{E5DAE192-A1B6-44FB-88F7-2B931E1BB910}" destId="{7B710320-6AFA-4889-A14C-717AE9D97E3D}" srcOrd="0" destOrd="0" presId="urn:microsoft.com/office/officeart/2005/8/layout/pyramid3"/>
    <dgm:cxn modelId="{A22A66C9-CC35-4DC3-9A9B-F4B83637EB93}" type="presParOf" srcId="{E5DAE192-A1B6-44FB-88F7-2B931E1BB910}" destId="{536A6D8E-5453-49E3-846C-CC0BC9FC0A59}" srcOrd="1" destOrd="0" presId="urn:microsoft.com/office/officeart/2005/8/layout/pyramid3"/>
    <dgm:cxn modelId="{DB553CCB-05A8-47F8-BB93-109F475A68C7}" type="presParOf" srcId="{C09AD4BB-0889-4444-B918-3151602B3A2C}" destId="{DAE52FA8-D3B7-4C25-B08D-312B0BFC299E}" srcOrd="3" destOrd="0" presId="urn:microsoft.com/office/officeart/2005/8/layout/pyramid3"/>
    <dgm:cxn modelId="{DC5C6BEC-C1E0-41C7-8573-B6E5A311EA51}" type="presParOf" srcId="{DAE52FA8-D3B7-4C25-B08D-312B0BFC299E}" destId="{1E29CA2E-E905-41A9-B65B-472EDB972E53}" srcOrd="0" destOrd="0" presId="urn:microsoft.com/office/officeart/2005/8/layout/pyramid3"/>
    <dgm:cxn modelId="{BC5D8C66-65F6-44C0-A503-1106D6B642AC}" type="presParOf" srcId="{DAE52FA8-D3B7-4C25-B08D-312B0BFC299E}" destId="{F616A4F5-4D4A-421B-A919-C33604E66DA7}" srcOrd="1" destOrd="0" presId="urn:microsoft.com/office/officeart/2005/8/layout/pyramid3"/>
    <dgm:cxn modelId="{376FD2E8-139A-41BF-AE50-C5BA9557CBD0}" type="presParOf" srcId="{C09AD4BB-0889-4444-B918-3151602B3A2C}" destId="{2C042439-68D3-4F3A-8500-585B179AC308}" srcOrd="4" destOrd="0" presId="urn:microsoft.com/office/officeart/2005/8/layout/pyramid3"/>
    <dgm:cxn modelId="{669FFF53-4D93-40F5-BA94-D6510232924A}" type="presParOf" srcId="{2C042439-68D3-4F3A-8500-585B179AC308}" destId="{10478241-D5C9-400E-916D-2EB95590E7A4}" srcOrd="0" destOrd="0" presId="urn:microsoft.com/office/officeart/2005/8/layout/pyramid3"/>
    <dgm:cxn modelId="{6C0C3F1B-51F6-4943-97A1-886C34CE97AC}" type="presParOf" srcId="{2C042439-68D3-4F3A-8500-585B179AC308}" destId="{9AA47A5E-B988-4949-89AF-22F9DE1C6771}"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0E937-A2C7-426F-ADE0-5E50E9280784}">
      <dsp:nvSpPr>
        <dsp:cNvPr id="0" name=""/>
        <dsp:cNvSpPr/>
      </dsp:nvSpPr>
      <dsp:spPr>
        <a:xfrm rot="10800000">
          <a:off x="0" y="0"/>
          <a:ext cx="3062024" cy="902928"/>
        </a:xfrm>
        <a:prstGeom prst="trapezoid">
          <a:avLst>
            <a:gd name="adj" fmla="val 33912"/>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Screening 1</a:t>
          </a:r>
        </a:p>
      </dsp:txBody>
      <dsp:txXfrm rot="-10800000">
        <a:off x="535854" y="0"/>
        <a:ext cx="1990316" cy="902928"/>
      </dsp:txXfrm>
    </dsp:sp>
    <dsp:sp modelId="{55F888A8-AC1E-4F52-8C2C-EC951D7D5952}">
      <dsp:nvSpPr>
        <dsp:cNvPr id="0" name=""/>
        <dsp:cNvSpPr/>
      </dsp:nvSpPr>
      <dsp:spPr>
        <a:xfrm rot="10800000">
          <a:off x="306202" y="902928"/>
          <a:ext cx="2449619" cy="902928"/>
        </a:xfrm>
        <a:prstGeom prst="trapezoid">
          <a:avLst>
            <a:gd name="adj" fmla="val 33912"/>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Screening2</a:t>
          </a:r>
        </a:p>
      </dsp:txBody>
      <dsp:txXfrm rot="-10800000">
        <a:off x="734886" y="902928"/>
        <a:ext cx="1592253" cy="902928"/>
      </dsp:txXfrm>
    </dsp:sp>
    <dsp:sp modelId="{7B710320-6AFA-4889-A14C-717AE9D97E3D}">
      <dsp:nvSpPr>
        <dsp:cNvPr id="0" name=""/>
        <dsp:cNvSpPr/>
      </dsp:nvSpPr>
      <dsp:spPr>
        <a:xfrm rot="10800000">
          <a:off x="612405" y="1805856"/>
          <a:ext cx="1837215" cy="902928"/>
        </a:xfrm>
        <a:prstGeom prst="trapezoid">
          <a:avLst>
            <a:gd name="adj" fmla="val 33912"/>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PCM1</a:t>
          </a:r>
        </a:p>
      </dsp:txBody>
      <dsp:txXfrm rot="-10800000">
        <a:off x="933917" y="1805856"/>
        <a:ext cx="1194189" cy="902928"/>
      </dsp:txXfrm>
    </dsp:sp>
    <dsp:sp modelId="{1E29CA2E-E905-41A9-B65B-472EDB972E53}">
      <dsp:nvSpPr>
        <dsp:cNvPr id="0" name=""/>
        <dsp:cNvSpPr/>
      </dsp:nvSpPr>
      <dsp:spPr>
        <a:xfrm rot="10800000">
          <a:off x="918607" y="2708785"/>
          <a:ext cx="1224809" cy="902928"/>
        </a:xfrm>
        <a:prstGeom prst="trapezoid">
          <a:avLst>
            <a:gd name="adj" fmla="val 33912"/>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PCM2</a:t>
          </a:r>
        </a:p>
      </dsp:txBody>
      <dsp:txXfrm rot="-10800000">
        <a:off x="1132949" y="2708785"/>
        <a:ext cx="796126" cy="902928"/>
      </dsp:txXfrm>
    </dsp:sp>
    <dsp:sp modelId="{10478241-D5C9-400E-916D-2EB95590E7A4}">
      <dsp:nvSpPr>
        <dsp:cNvPr id="0" name=""/>
        <dsp:cNvSpPr/>
      </dsp:nvSpPr>
      <dsp:spPr>
        <a:xfrm rot="10800000">
          <a:off x="1243261" y="3611713"/>
          <a:ext cx="575501" cy="902928"/>
        </a:xfrm>
        <a:prstGeom prst="trapezoid">
          <a:avLst>
            <a:gd name="adj" fmla="val 5320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PCM3</a:t>
          </a:r>
        </a:p>
      </dsp:txBody>
      <dsp:txXfrm rot="-10800000">
        <a:off x="1243261" y="3611713"/>
        <a:ext cx="575501" cy="902928"/>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7DB0D-48CD-438C-A53A-737E9A990340}" type="datetimeFigureOut">
              <a:rPr lang="en"/>
              <a:t>8/11/2021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249643-2834-4761-B076-5170176066CB}" type="slidenum">
              <a:rPr lang="en"/>
              <a:t>‹#›</a:t>
            </a:fld>
            <a:endParaRPr lang="en-US"/>
          </a:p>
        </p:txBody>
      </p:sp>
    </p:spTree>
    <p:extLst>
      <p:ext uri="{BB962C8B-B14F-4D97-AF65-F5344CB8AC3E}">
        <p14:creationId xmlns:p14="http://schemas.microsoft.com/office/powerpoint/2010/main" val="304651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249643-2834-4761-B076-5170176066CB}" type="slidenum">
              <a:rPr lang="en" smtClean="0"/>
              <a:t>2</a:t>
            </a:fld>
            <a:endParaRPr lang="en-US"/>
          </a:p>
        </p:txBody>
      </p:sp>
    </p:spTree>
    <p:extLst>
      <p:ext uri="{BB962C8B-B14F-4D97-AF65-F5344CB8AC3E}">
        <p14:creationId xmlns:p14="http://schemas.microsoft.com/office/powerpoint/2010/main" val="4020108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Name goals, tie to POCs, tied to project plans, tied to outcomes</a:t>
            </a:r>
          </a:p>
        </p:txBody>
      </p:sp>
      <p:sp>
        <p:nvSpPr>
          <p:cNvPr id="4" name="Slide Number Placeholder 3"/>
          <p:cNvSpPr>
            <a:spLocks noGrp="1"/>
          </p:cNvSpPr>
          <p:nvPr>
            <p:ph type="sldNum" sz="quarter" idx="5"/>
          </p:nvPr>
        </p:nvSpPr>
        <p:spPr/>
        <p:txBody>
          <a:bodyPr/>
          <a:lstStyle/>
          <a:p>
            <a:fld id="{64249643-2834-4761-B076-5170176066CB}" type="slidenum">
              <a:rPr lang="en"/>
              <a:t>5</a:t>
            </a:fld>
            <a:endParaRPr lang="en-US"/>
          </a:p>
        </p:txBody>
      </p:sp>
    </p:spTree>
    <p:extLst>
      <p:ext uri="{BB962C8B-B14F-4D97-AF65-F5344CB8AC3E}">
        <p14:creationId xmlns:p14="http://schemas.microsoft.com/office/powerpoint/2010/main" val="505693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64249643-2834-4761-B076-5170176066CB}" type="slidenum">
              <a:rPr lang="en" smtClean="0"/>
              <a:t>6</a:t>
            </a:fld>
            <a:endParaRPr lang="en-US"/>
          </a:p>
        </p:txBody>
      </p:sp>
    </p:spTree>
    <p:extLst>
      <p:ext uri="{BB962C8B-B14F-4D97-AF65-F5344CB8AC3E}">
        <p14:creationId xmlns:p14="http://schemas.microsoft.com/office/powerpoint/2010/main" val="1191259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Phenotypes that vary between the individuals in a population do so because of both environmental factors and the genes that influence traits, as well as various interactions between genes and environmental factors. We recognize that genetic and/or environmental variation exists, and want to assess them through heritability estimation.  heritability is formally defined as the proportion of phenotypic variation (VP) that is due to variation in genetic values (VG). high heritability value of 0.5 means that on average half of the difference among phenotype of this trait are genetic. High var-E indicates the importance of environment in the genetic material studied here. Significance of genetic × environment variances, especially for PCK and </a:t>
            </a:r>
            <a:r>
              <a:rPr lang="en-US" dirty="0" err="1"/>
              <a:t>pctrc</a:t>
            </a:r>
            <a:r>
              <a:rPr lang="en-US" dirty="0"/>
              <a:t>, indicated the need to evaluate these interactions in multiple environments which are representative of the area in which the genotypes are to be grown. PGW showed high heritability value of 0.5. </a:t>
            </a:r>
            <a:r>
              <a:rPr lang="en-US" dirty="0" err="1"/>
              <a:t>Pctrc</a:t>
            </a:r>
            <a:r>
              <a:rPr lang="en-US" dirty="0"/>
              <a:t> percent cut kernel and percent cob weigh showed moderate heritability value.</a:t>
            </a:r>
            <a:endParaRPr lang="en-US" dirty="0">
              <a:cs typeface="Calibri"/>
            </a:endParaRPr>
          </a:p>
        </p:txBody>
      </p:sp>
      <p:sp>
        <p:nvSpPr>
          <p:cNvPr id="4" name="Slide Number Placeholder 3"/>
          <p:cNvSpPr>
            <a:spLocks noGrp="1"/>
          </p:cNvSpPr>
          <p:nvPr>
            <p:ph type="sldNum" sz="quarter" idx="5"/>
          </p:nvPr>
        </p:nvSpPr>
        <p:spPr/>
        <p:txBody>
          <a:bodyPr/>
          <a:lstStyle/>
          <a:p>
            <a:fld id="{64249643-2834-4761-B076-5170176066CB}" type="slidenum">
              <a:rPr lang="en"/>
              <a:t>8</a:t>
            </a:fld>
            <a:endParaRPr lang="en-US"/>
          </a:p>
        </p:txBody>
      </p:sp>
    </p:spTree>
    <p:extLst>
      <p:ext uri="{BB962C8B-B14F-4D97-AF65-F5344CB8AC3E}">
        <p14:creationId xmlns:p14="http://schemas.microsoft.com/office/powerpoint/2010/main" val="704524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relationship can be identified and a workflow built to capture the data, the following pipeline transformation efforts will be impacted:</a:t>
            </a:r>
          </a:p>
          <a:p>
            <a:endParaRPr lang="en-US">
              <a:cs typeface="Calibri"/>
            </a:endParaRPr>
          </a:p>
        </p:txBody>
      </p:sp>
      <p:sp>
        <p:nvSpPr>
          <p:cNvPr id="4" name="Slide Number Placeholder 3"/>
          <p:cNvSpPr>
            <a:spLocks noGrp="1"/>
          </p:cNvSpPr>
          <p:nvPr>
            <p:ph type="sldNum" sz="quarter" idx="5"/>
          </p:nvPr>
        </p:nvSpPr>
        <p:spPr/>
        <p:txBody>
          <a:bodyPr/>
          <a:lstStyle/>
          <a:p>
            <a:fld id="{64249643-2834-4761-B076-5170176066CB}" type="slidenum">
              <a:rPr lang="en"/>
              <a:t>10</a:t>
            </a:fld>
            <a:endParaRPr lang="en-US"/>
          </a:p>
        </p:txBody>
      </p:sp>
    </p:spTree>
    <p:extLst>
      <p:ext uri="{BB962C8B-B14F-4D97-AF65-F5344CB8AC3E}">
        <p14:creationId xmlns:p14="http://schemas.microsoft.com/office/powerpoint/2010/main" val="3564640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B20D-B0F9-452F-87D5-26921F940D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FF0CE5-E654-4735-A520-A21812AEBC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D9D160-006E-40F1-9C21-7EBFFD138CFD}"/>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5" name="Footer Placeholder 4">
            <a:extLst>
              <a:ext uri="{FF2B5EF4-FFF2-40B4-BE49-F238E27FC236}">
                <a16:creationId xmlns:a16="http://schemas.microsoft.com/office/drawing/2014/main" id="{E6F9E28F-FDF9-46E7-8895-98551FC0F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FBEED-1B95-43FF-8A31-C1F55952752B}"/>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43836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137D-2B45-4B64-B0F5-428BC73B15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4F448C-DFCA-4ADB-9B88-A8307743A7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9CEC20-525A-49CF-8560-989C1E392ACE}"/>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5" name="Footer Placeholder 4">
            <a:extLst>
              <a:ext uri="{FF2B5EF4-FFF2-40B4-BE49-F238E27FC236}">
                <a16:creationId xmlns:a16="http://schemas.microsoft.com/office/drawing/2014/main" id="{65667DF0-50A0-4197-BECD-165202D9E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7347F7-05CF-42CD-8022-8632908AA778}"/>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148658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5BCB-E9D4-4DA4-BE37-65B27AAD14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95342D-80C5-48F2-B93B-2459FEFA0F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B25E49-3C65-4B33-8040-B495AECC4607}"/>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5" name="Footer Placeholder 4">
            <a:extLst>
              <a:ext uri="{FF2B5EF4-FFF2-40B4-BE49-F238E27FC236}">
                <a16:creationId xmlns:a16="http://schemas.microsoft.com/office/drawing/2014/main" id="{17951599-2291-4EC1-8D34-2734D40DD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24E1A8-B0F2-4E7B-B5D7-06ACF1563A1B}"/>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3003332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19404-F037-4154-AA27-CF70BAD10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EC8301-46FE-4071-97D9-C125654ACE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439D9B-52D5-44B4-A6AF-54BB1A680F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3EEE8E-FFA0-4324-A80F-40DD483ADF6C}"/>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6" name="Footer Placeholder 5">
            <a:extLst>
              <a:ext uri="{FF2B5EF4-FFF2-40B4-BE49-F238E27FC236}">
                <a16:creationId xmlns:a16="http://schemas.microsoft.com/office/drawing/2014/main" id="{3A233A7F-BE48-4384-8041-080F615F76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8977D1-B701-4199-A95F-3D6950496378}"/>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3485103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B813-C3ED-42B0-85C5-26981B1583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420797-669D-4C10-928F-660278A4EA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2D18D8-6827-430B-9043-1C597181D0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874679-9C5A-44BF-9CA1-0C0DD2FC31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6F03FA-5CB5-4CBC-8C45-17192A62E5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DB3DCD-D1E0-43BC-A4E6-B97AADDC1BCB}"/>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8" name="Footer Placeholder 7">
            <a:extLst>
              <a:ext uri="{FF2B5EF4-FFF2-40B4-BE49-F238E27FC236}">
                <a16:creationId xmlns:a16="http://schemas.microsoft.com/office/drawing/2014/main" id="{EF88D35A-4F59-47E4-A23E-BF1EB830EF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819120-A8B7-4F5A-915C-BC5CAE2A833B}"/>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825731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F593B-8928-407B-8DED-D4375E61B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F3DA76-7C05-4531-AD5D-9410104C1940}"/>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4" name="Footer Placeholder 3">
            <a:extLst>
              <a:ext uri="{FF2B5EF4-FFF2-40B4-BE49-F238E27FC236}">
                <a16:creationId xmlns:a16="http://schemas.microsoft.com/office/drawing/2014/main" id="{0734B230-579B-409E-BE01-16819261E2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9F9C06-BCB2-4D61-A0C9-47F6B42FB073}"/>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3452751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495B81-FB84-48B1-B7DC-29AA1B67AA08}"/>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3" name="Footer Placeholder 2">
            <a:extLst>
              <a:ext uri="{FF2B5EF4-FFF2-40B4-BE49-F238E27FC236}">
                <a16:creationId xmlns:a16="http://schemas.microsoft.com/office/drawing/2014/main" id="{A684CE4D-3811-48BA-9B98-18C88FD5FA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7CEC9A-3360-4769-AB0C-1BBE0A818DD0}"/>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3250436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4FA2B-9D62-486F-B2C4-4858552DF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15125-A23B-4107-B1B2-5574760D12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4A1F14-FA33-43AA-B334-83FDBE700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646C4-C959-4AA0-8B4B-2ECFF1587B28}"/>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6" name="Footer Placeholder 5">
            <a:extLst>
              <a:ext uri="{FF2B5EF4-FFF2-40B4-BE49-F238E27FC236}">
                <a16:creationId xmlns:a16="http://schemas.microsoft.com/office/drawing/2014/main" id="{1F8ACDCB-180B-42C7-9332-C62B4CD6A6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B2579F-E861-444A-B415-96C46C7F10C0}"/>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573018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EB540-04BA-470E-BA1A-B8772136C2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6A0442-EB95-4F36-95E7-A271AF5EDF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8B415B-FEC7-44BA-82E6-B4879F3D97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3A19B1-52C6-4BC1-9C5C-59D134C09117}"/>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6" name="Footer Placeholder 5">
            <a:extLst>
              <a:ext uri="{FF2B5EF4-FFF2-40B4-BE49-F238E27FC236}">
                <a16:creationId xmlns:a16="http://schemas.microsoft.com/office/drawing/2014/main" id="{80F4C635-3894-49C6-B17F-CFBB578AC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B20F75-7F7E-48A4-B91A-F1A9CB9AEEA4}"/>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3722101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A2E5-F765-44F7-BEAE-C3D923C242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F65C07-6B15-4BD3-A49E-DDA3262A3E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461FEC-356F-4B9D-A2A5-33D5F3A7B2C6}"/>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5" name="Footer Placeholder 4">
            <a:extLst>
              <a:ext uri="{FF2B5EF4-FFF2-40B4-BE49-F238E27FC236}">
                <a16:creationId xmlns:a16="http://schemas.microsoft.com/office/drawing/2014/main" id="{1A3250CD-6ACF-4AA7-849A-543A2D2A43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18D50-1706-4357-A731-97CA10D48430}"/>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259722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8D327-50FA-4BED-A76B-9A7016A3A5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F02F9D-9B77-43C9-ADAE-5C83A9B55D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1F57C-7CC0-4386-A611-43AE337F7564}"/>
              </a:ext>
            </a:extLst>
          </p:cNvPr>
          <p:cNvSpPr>
            <a:spLocks noGrp="1"/>
          </p:cNvSpPr>
          <p:nvPr>
            <p:ph type="dt" sz="half" idx="10"/>
          </p:nvPr>
        </p:nvSpPr>
        <p:spPr/>
        <p:txBody>
          <a:bodyPr/>
          <a:lstStyle/>
          <a:p>
            <a:fld id="{7B69339D-036E-4E97-B649-4A9CCCFA4375}" type="datetimeFigureOut">
              <a:rPr lang="en-US" smtClean="0"/>
              <a:t>8/11/2021</a:t>
            </a:fld>
            <a:endParaRPr lang="en-US"/>
          </a:p>
        </p:txBody>
      </p:sp>
      <p:sp>
        <p:nvSpPr>
          <p:cNvPr id="5" name="Footer Placeholder 4">
            <a:extLst>
              <a:ext uri="{FF2B5EF4-FFF2-40B4-BE49-F238E27FC236}">
                <a16:creationId xmlns:a16="http://schemas.microsoft.com/office/drawing/2014/main" id="{0444231A-65DA-4CEF-A970-3F6D52C1C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C3A965-5476-4CD6-A52D-01B4F3E01719}"/>
              </a:ext>
            </a:extLst>
          </p:cNvPr>
          <p:cNvSpPr>
            <a:spLocks noGrp="1"/>
          </p:cNvSpPr>
          <p:nvPr>
            <p:ph type="sldNum" sz="quarter" idx="12"/>
          </p:nvPr>
        </p:nvSpPr>
        <p:spPr/>
        <p:txBody>
          <a:bodyPr/>
          <a:lstStyle/>
          <a:p>
            <a:fld id="{525256BB-7EF4-435F-9410-DE3B8EE84C72}" type="slidenum">
              <a:rPr lang="en-US" smtClean="0"/>
              <a:t>‹#›</a:t>
            </a:fld>
            <a:endParaRPr lang="en-US"/>
          </a:p>
        </p:txBody>
      </p:sp>
    </p:spTree>
    <p:extLst>
      <p:ext uri="{BB962C8B-B14F-4D97-AF65-F5344CB8AC3E}">
        <p14:creationId xmlns:p14="http://schemas.microsoft.com/office/powerpoint/2010/main" val="1958901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8" name="Subtitle 2"/>
          <p:cNvSpPr>
            <a:spLocks noGrp="1"/>
          </p:cNvSpPr>
          <p:nvPr>
            <p:ph type="subTitle" idx="13"/>
          </p:nvPr>
        </p:nvSpPr>
        <p:spPr bwMode="gray">
          <a:xfrm>
            <a:off x="981948" y="1138299"/>
            <a:ext cx="8153716" cy="252000"/>
          </a:xfrm>
        </p:spPr>
        <p:txBody>
          <a:bodyPr anchor="t"/>
          <a:lstStyle>
            <a:lvl1pPr marL="0" indent="0" algn="l">
              <a:buNone/>
              <a:defRPr sz="1800">
                <a:solidFill>
                  <a:schemeClr val="accent1"/>
                </a:solidFill>
              </a:defRPr>
            </a:lvl1pPr>
            <a:lvl2pPr marL="0" indent="0" algn="l">
              <a:buNone/>
              <a:defRPr sz="1800">
                <a:solidFill>
                  <a:schemeClr val="accent1"/>
                </a:solidFill>
              </a:defRPr>
            </a:lvl2pPr>
            <a:lvl3pPr marL="0" indent="0" algn="l">
              <a:buNone/>
              <a:defRPr sz="1800">
                <a:solidFill>
                  <a:schemeClr val="accent1"/>
                </a:solidFill>
              </a:defRPr>
            </a:lvl3pPr>
            <a:lvl4pPr marL="0" indent="0" algn="l">
              <a:buNone/>
              <a:defRPr sz="1800">
                <a:solidFill>
                  <a:schemeClr val="accent1"/>
                </a:solidFill>
              </a:defRPr>
            </a:lvl4pPr>
            <a:lvl5pPr marL="0" indent="0" algn="l">
              <a:buNone/>
              <a:defRPr sz="1800">
                <a:solidFill>
                  <a:schemeClr val="accent1"/>
                </a:solidFill>
              </a:defRPr>
            </a:lvl5pPr>
            <a:lvl6pPr marL="0" indent="0" algn="l">
              <a:buNone/>
              <a:defRPr sz="1800">
                <a:solidFill>
                  <a:schemeClr val="accent1"/>
                </a:solidFill>
              </a:defRPr>
            </a:lvl6pPr>
            <a:lvl7pPr marL="0" indent="0" algn="l">
              <a:buNone/>
              <a:defRPr sz="1800">
                <a:solidFill>
                  <a:schemeClr val="accent1"/>
                </a:solidFill>
              </a:defRPr>
            </a:lvl7pPr>
            <a:lvl8pPr marL="0" indent="0" algn="l">
              <a:buNone/>
              <a:defRPr sz="1800">
                <a:solidFill>
                  <a:schemeClr val="accent1"/>
                </a:solidFill>
              </a:defRPr>
            </a:lvl8pPr>
            <a:lvl9pPr marL="0" indent="0" algn="l">
              <a:buNone/>
              <a:defRPr sz="1800">
                <a:solidFill>
                  <a:schemeClr val="accent1"/>
                </a:solidFill>
              </a:defRPr>
            </a:lvl9pPr>
          </a:lstStyle>
          <a:p>
            <a:pPr lvl="0"/>
            <a:r>
              <a:rPr lang="en-US"/>
              <a:t>Click to edit Master subtitle style</a:t>
            </a:r>
          </a:p>
        </p:txBody>
      </p:sp>
      <p:sp>
        <p:nvSpPr>
          <p:cNvPr id="2" name="Title 1"/>
          <p:cNvSpPr>
            <a:spLocks noGrp="1"/>
          </p:cNvSpPr>
          <p:nvPr>
            <p:ph type="title"/>
          </p:nvPr>
        </p:nvSpPr>
        <p:spPr bwMode="gray">
          <a:xfrm>
            <a:off x="981949" y="181938"/>
            <a:ext cx="8153715" cy="864000"/>
          </a:xfrm>
        </p:spPr>
        <p:txBody>
          <a:bodyPr/>
          <a:lstStyle/>
          <a:p>
            <a:r>
              <a:rPr lang="en-US"/>
              <a:t>Click to edit Master title style</a:t>
            </a:r>
          </a:p>
        </p:txBody>
      </p:sp>
      <p:sp>
        <p:nvSpPr>
          <p:cNvPr id="5" name="Footer Placeholder 4"/>
          <p:cNvSpPr>
            <a:spLocks noGrp="1"/>
          </p:cNvSpPr>
          <p:nvPr>
            <p:ph type="ftr" sz="quarter" idx="11"/>
          </p:nvPr>
        </p:nvSpPr>
        <p:spPr bwMode="gray"/>
        <p:txBody>
          <a:bodyPr/>
          <a:lstStyle/>
          <a:p>
            <a:r>
              <a:rPr lang="en-US"/>
              <a:t>/// VS Team Americas Kick Off /// Purpose Ignites Passion</a:t>
            </a:r>
          </a:p>
        </p:txBody>
      </p:sp>
      <p:sp>
        <p:nvSpPr>
          <p:cNvPr id="6" name="Slide Number Placeholder 5"/>
          <p:cNvSpPr>
            <a:spLocks noGrp="1"/>
          </p:cNvSpPr>
          <p:nvPr>
            <p:ph type="sldNum" sz="quarter" idx="12"/>
          </p:nvPr>
        </p:nvSpPr>
        <p:spPr bwMode="gray"/>
        <p:txBody>
          <a:bodyPr/>
          <a:lstStyle>
            <a:lvl1pPr>
              <a:defRPr>
                <a:solidFill>
                  <a:schemeClr val="tx2"/>
                </a:solidFill>
              </a:defRPr>
            </a:lvl1pPr>
          </a:lstStyle>
          <a:p>
            <a:fld id="{EEAD9179-7A6B-4268-BEB2-F3B8EB06115B}" type="slidenum">
              <a:rPr lang="en-US" smtClean="0"/>
              <a:pPr/>
              <a:t>‹#›</a:t>
            </a:fld>
            <a:endParaRPr lang="en-US"/>
          </a:p>
        </p:txBody>
      </p:sp>
      <p:sp>
        <p:nvSpPr>
          <p:cNvPr id="7" name="Inhaltsplatzhalter 6"/>
          <p:cNvSpPr>
            <a:spLocks noGrp="1"/>
          </p:cNvSpPr>
          <p:nvPr>
            <p:ph sz="quarter" idx="14"/>
          </p:nvPr>
        </p:nvSpPr>
        <p:spPr>
          <a:xfrm>
            <a:off x="981948" y="1732751"/>
            <a:ext cx="10799867" cy="4751999"/>
          </a:xfrm>
        </p:spPr>
        <p:txBody>
          <a:bodyPr/>
          <a:lstStyle>
            <a:lvl2pPr>
              <a:buFontTx/>
              <a:buBlip>
                <a:blip r:embed="rId3"/>
              </a:buBlip>
              <a:defRPr/>
            </a:lvl2pPr>
            <a:lvl3pPr>
              <a:buFontTx/>
              <a:buBlip>
                <a:blip r:embed="rId3"/>
              </a:buBlip>
              <a:defRPr/>
            </a:lvl3pPr>
            <a:lvl4pPr>
              <a:buFontTx/>
              <a:buBlip>
                <a:blip r:embed="rId3"/>
              </a:buBlip>
              <a:defRPr/>
            </a:lvl4pPr>
            <a:lvl5pPr>
              <a:buFontTx/>
              <a:buBlip>
                <a:blip r:embed="rId3"/>
              </a:buBlip>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Logoschutz" hidden="1"/>
          <p:cNvSpPr/>
          <p:nvPr userDrawn="1">
            <p:custDataLst>
              <p:tags r:id="rId1"/>
            </p:custDataLst>
          </p:nvPr>
        </p:nvSpPr>
        <p:spPr bwMode="gray">
          <a:xfrm>
            <a:off x="86017" y="509323"/>
            <a:ext cx="612080" cy="612000"/>
          </a:xfrm>
          <a:prstGeom prst="rect">
            <a:avLst/>
          </a:prstGeom>
          <a:solidFill>
            <a:srgbClr val="00BCFF">
              <a:alpha val="3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tx1"/>
                </a:solidFill>
              </a:rPr>
              <a:t>Logo</a:t>
            </a:r>
          </a:p>
          <a:p>
            <a:pPr algn="ctr"/>
            <a:r>
              <a:rPr lang="de-DE" sz="900">
                <a:solidFill>
                  <a:schemeClr val="tx1"/>
                </a:solidFill>
              </a:rPr>
              <a:t>Schutz</a:t>
            </a:r>
          </a:p>
        </p:txBody>
      </p:sp>
      <p:sp>
        <p:nvSpPr>
          <p:cNvPr id="11" name="Freihandform: Form 10">
            <a:extLst>
              <a:ext uri="{FF2B5EF4-FFF2-40B4-BE49-F238E27FC236}">
                <a16:creationId xmlns:a16="http://schemas.microsoft.com/office/drawing/2014/main" id="{9D9B28B7-2784-4C54-87B6-89C5F434F2DE}"/>
              </a:ext>
            </a:extLst>
          </p:cNvPr>
          <p:cNvSpPr/>
          <p:nvPr userDrawn="1"/>
        </p:nvSpPr>
        <p:spPr bwMode="gray">
          <a:xfrm flipV="1">
            <a:off x="2" y="0"/>
            <a:ext cx="885940" cy="6858000"/>
          </a:xfrm>
          <a:custGeom>
            <a:avLst/>
            <a:gdLst>
              <a:gd name="connsiteX0" fmla="*/ 0 w 885825"/>
              <a:gd name="connsiteY0" fmla="*/ 6858000 h 6858000"/>
              <a:gd name="connsiteX1" fmla="*/ 885825 w 885825"/>
              <a:gd name="connsiteY1" fmla="*/ 6858000 h 6858000"/>
              <a:gd name="connsiteX2" fmla="*/ 5302 w 885825"/>
              <a:gd name="connsiteY2" fmla="*/ 0 h 6858000"/>
              <a:gd name="connsiteX3" fmla="*/ 0 w 885825"/>
              <a:gd name="connsiteY3" fmla="*/ 0 h 6858000"/>
            </a:gdLst>
            <a:ahLst/>
            <a:cxnLst>
              <a:cxn ang="0">
                <a:pos x="connsiteX0" y="connsiteY0"/>
              </a:cxn>
              <a:cxn ang="0">
                <a:pos x="connsiteX1" y="connsiteY1"/>
              </a:cxn>
              <a:cxn ang="0">
                <a:pos x="connsiteX2" y="connsiteY2"/>
              </a:cxn>
              <a:cxn ang="0">
                <a:pos x="connsiteX3" y="connsiteY3"/>
              </a:cxn>
            </a:cxnLst>
            <a:rect l="l" t="t" r="r" b="b"/>
            <a:pathLst>
              <a:path w="885825" h="6858000">
                <a:moveTo>
                  <a:pt x="0" y="6858000"/>
                </a:moveTo>
                <a:lnTo>
                  <a:pt x="885825" y="6858000"/>
                </a:lnTo>
                <a:lnTo>
                  <a:pt x="5302" y="0"/>
                </a:lnTo>
                <a:lnTo>
                  <a:pt x="0" y="0"/>
                </a:lnTo>
                <a:close/>
              </a:path>
            </a:pathLst>
          </a:custGeom>
          <a:gradFill flip="none" rotWithShape="1">
            <a:gsLst>
              <a:gs pos="8000">
                <a:schemeClr val="accent1"/>
              </a:gs>
              <a:gs pos="66000">
                <a:schemeClr val="accent4">
                  <a:alpha val="75000"/>
                </a:schemeClr>
              </a:gs>
              <a:gs pos="100000">
                <a:schemeClr val="accent4">
                  <a:alpha val="7500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solidFill>
                <a:srgbClr val="FFFFFF"/>
              </a:solidFill>
              <a:latin typeface="Arial" panose="020B0604020202020204" pitchFamily="34" charset="0"/>
            </a:endParaRPr>
          </a:p>
        </p:txBody>
      </p:sp>
      <p:pic>
        <p:nvPicPr>
          <p:cNvPr id="12" name="Picture 2">
            <a:extLst>
              <a:ext uri="{FF2B5EF4-FFF2-40B4-BE49-F238E27FC236}">
                <a16:creationId xmlns:a16="http://schemas.microsoft.com/office/drawing/2014/main" id="{CFE2AED3-79BE-40B1-95A6-CD5747C1BF1A}"/>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197726" y="617699"/>
            <a:ext cx="395299" cy="395248"/>
          </a:xfrm>
          <a:prstGeom prst="rect">
            <a:avLst/>
          </a:prstGeom>
          <a:noFill/>
          <a:extLst>
            <a:ext uri="{909E8E84-426E-40DD-AFC4-6F175D3DCCD1}">
              <a14:hiddenFill xmlns:a14="http://schemas.microsoft.com/office/drawing/2010/main">
                <a:solidFill>
                  <a:srgbClr val="FFFFFF"/>
                </a:solidFill>
              </a14:hiddenFill>
            </a:ext>
          </a:extLst>
        </p:spPr>
      </p:pic>
      <p:sp>
        <p:nvSpPr>
          <p:cNvPr id="13" name="MSIPCMContentMarking" descr="{&quot;HashCode&quot;:-242339457,&quot;Placement&quot;:&quot;Footer&quot;}">
            <a:extLst>
              <a:ext uri="{FF2B5EF4-FFF2-40B4-BE49-F238E27FC236}">
                <a16:creationId xmlns:a16="http://schemas.microsoft.com/office/drawing/2014/main" id="{0D68FE3E-9F06-41E4-A69D-4A6D03536A94}"/>
              </a:ext>
            </a:extLst>
          </p:cNvPr>
          <p:cNvSpPr txBox="1"/>
          <p:nvPr userDrawn="1"/>
        </p:nvSpPr>
        <p:spPr bwMode="gray">
          <a:xfrm>
            <a:off x="10318641" y="6390571"/>
            <a:ext cx="1873359" cy="467429"/>
          </a:xfrm>
          <a:prstGeom prst="rect">
            <a:avLst/>
          </a:prstGeom>
          <a:noFill/>
        </p:spPr>
        <p:txBody>
          <a:bodyPr vert="horz" wrap="square" lIns="0" tIns="0" rIns="0" bIns="0" rtlCol="0" anchor="ctr" anchorCtr="1">
            <a:noAutofit/>
          </a:bodyPr>
          <a:lstStyle/>
          <a:p>
            <a:pPr algn="r" rtl="0" eaLnBrk="1" fontAlgn="auto" hangingPunct="1">
              <a:lnSpc>
                <a:spcPct val="100000"/>
              </a:lnSpc>
              <a:spcBef>
                <a:spcPts val="0"/>
              </a:spcBef>
              <a:spcAft>
                <a:spcPts val="0"/>
              </a:spcAft>
            </a:pPr>
            <a:r>
              <a:rPr lang="en-US" sz="2200" b="0" i="0" u="none" baseline="0">
                <a:solidFill>
                  <a:srgbClr val="FF8939"/>
                </a:solidFill>
                <a:latin typeface="Calibri" panose="020F0502020204030204" pitchFamily="34" charset="0"/>
              </a:rPr>
              <a:t>INTERNAL</a:t>
            </a:r>
          </a:p>
        </p:txBody>
      </p:sp>
      <p:pic>
        <p:nvPicPr>
          <p:cNvPr id="4" name="Picture 3">
            <a:extLst>
              <a:ext uri="{FF2B5EF4-FFF2-40B4-BE49-F238E27FC236}">
                <a16:creationId xmlns:a16="http://schemas.microsoft.com/office/drawing/2014/main" id="{E239B33A-328F-2F4B-8852-744DF5D6DEA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143582" y="865552"/>
            <a:ext cx="1596507" cy="457295"/>
          </a:xfrm>
          <a:prstGeom prst="rect">
            <a:avLst/>
          </a:prstGeom>
        </p:spPr>
      </p:pic>
      <p:cxnSp>
        <p:nvCxnSpPr>
          <p:cNvPr id="19" name="Straight Connector 18">
            <a:extLst>
              <a:ext uri="{FF2B5EF4-FFF2-40B4-BE49-F238E27FC236}">
                <a16:creationId xmlns:a16="http://schemas.microsoft.com/office/drawing/2014/main" id="{2AC19547-D847-5049-A017-E670BA4BA02B}"/>
              </a:ext>
            </a:extLst>
          </p:cNvPr>
          <p:cNvCxnSpPr>
            <a:cxnSpLocks/>
          </p:cNvCxnSpPr>
          <p:nvPr userDrawn="1"/>
        </p:nvCxnSpPr>
        <p:spPr bwMode="gray">
          <a:xfrm>
            <a:off x="10143582" y="755985"/>
            <a:ext cx="1596507"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9FE13C49-5294-9741-A759-E38E458F6B5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143582" y="275259"/>
            <a:ext cx="748396" cy="375594"/>
          </a:xfrm>
          <a:prstGeom prst="rect">
            <a:avLst/>
          </a:prstGeom>
        </p:spPr>
      </p:pic>
      <p:pic>
        <p:nvPicPr>
          <p:cNvPr id="21" name="Picture 20">
            <a:extLst>
              <a:ext uri="{FF2B5EF4-FFF2-40B4-BE49-F238E27FC236}">
                <a16:creationId xmlns:a16="http://schemas.microsoft.com/office/drawing/2014/main" id="{A5C1ED3D-9BDF-D64B-8DA4-DC547B8721ED}"/>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11059797" y="284843"/>
            <a:ext cx="680291" cy="353016"/>
          </a:xfrm>
          <a:prstGeom prst="rect">
            <a:avLst/>
          </a:prstGeom>
        </p:spPr>
      </p:pic>
    </p:spTree>
    <p:extLst>
      <p:ext uri="{BB962C8B-B14F-4D97-AF65-F5344CB8AC3E}">
        <p14:creationId xmlns:p14="http://schemas.microsoft.com/office/powerpoint/2010/main" val="211151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19">
          <p15:clr>
            <a:srgbClr val="FBAE40"/>
          </p15:clr>
        </p15:guide>
        <p15:guide id="2" pos="7423">
          <p15:clr>
            <a:srgbClr val="FBAE40"/>
          </p15:clr>
        </p15:guide>
        <p15:guide id="3" orient="horz" pos="1094">
          <p15:clr>
            <a:srgbClr val="FBAE40"/>
          </p15:clr>
        </p15:guide>
        <p15:guide id="4" orient="horz" pos="408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14" name="Freihandform: Form 10">
            <a:extLst>
              <a:ext uri="{FF2B5EF4-FFF2-40B4-BE49-F238E27FC236}">
                <a16:creationId xmlns:a16="http://schemas.microsoft.com/office/drawing/2014/main" id="{53F3E627-4BD6-2641-B2C0-BC676816A388}"/>
              </a:ext>
            </a:extLst>
          </p:cNvPr>
          <p:cNvSpPr/>
          <p:nvPr userDrawn="1"/>
        </p:nvSpPr>
        <p:spPr bwMode="gray">
          <a:xfrm flipV="1">
            <a:off x="2" y="0"/>
            <a:ext cx="885940" cy="6858000"/>
          </a:xfrm>
          <a:custGeom>
            <a:avLst/>
            <a:gdLst>
              <a:gd name="connsiteX0" fmla="*/ 0 w 885825"/>
              <a:gd name="connsiteY0" fmla="*/ 6858000 h 6858000"/>
              <a:gd name="connsiteX1" fmla="*/ 885825 w 885825"/>
              <a:gd name="connsiteY1" fmla="*/ 6858000 h 6858000"/>
              <a:gd name="connsiteX2" fmla="*/ 5302 w 885825"/>
              <a:gd name="connsiteY2" fmla="*/ 0 h 6858000"/>
              <a:gd name="connsiteX3" fmla="*/ 0 w 885825"/>
              <a:gd name="connsiteY3" fmla="*/ 0 h 6858000"/>
            </a:gdLst>
            <a:ahLst/>
            <a:cxnLst>
              <a:cxn ang="0">
                <a:pos x="connsiteX0" y="connsiteY0"/>
              </a:cxn>
              <a:cxn ang="0">
                <a:pos x="connsiteX1" y="connsiteY1"/>
              </a:cxn>
              <a:cxn ang="0">
                <a:pos x="connsiteX2" y="connsiteY2"/>
              </a:cxn>
              <a:cxn ang="0">
                <a:pos x="connsiteX3" y="connsiteY3"/>
              </a:cxn>
            </a:cxnLst>
            <a:rect l="l" t="t" r="r" b="b"/>
            <a:pathLst>
              <a:path w="885825" h="6858000">
                <a:moveTo>
                  <a:pt x="0" y="6858000"/>
                </a:moveTo>
                <a:lnTo>
                  <a:pt x="885825" y="6858000"/>
                </a:lnTo>
                <a:lnTo>
                  <a:pt x="5302" y="0"/>
                </a:lnTo>
                <a:lnTo>
                  <a:pt x="0" y="0"/>
                </a:lnTo>
                <a:close/>
              </a:path>
            </a:pathLst>
          </a:custGeom>
          <a:gradFill flip="none" rotWithShape="1">
            <a:gsLst>
              <a:gs pos="8000">
                <a:schemeClr val="accent1"/>
              </a:gs>
              <a:gs pos="66000">
                <a:schemeClr val="accent4">
                  <a:alpha val="75000"/>
                </a:schemeClr>
              </a:gs>
              <a:gs pos="100000">
                <a:schemeClr val="accent4">
                  <a:alpha val="7500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solidFill>
                <a:srgbClr val="FFFFFF"/>
              </a:solidFill>
              <a:latin typeface="Arial" panose="020B0604020202020204" pitchFamily="34" charset="0"/>
            </a:endParaRPr>
          </a:p>
        </p:txBody>
      </p:sp>
      <p:sp>
        <p:nvSpPr>
          <p:cNvPr id="8" name="Subtitle 2"/>
          <p:cNvSpPr>
            <a:spLocks noGrp="1"/>
          </p:cNvSpPr>
          <p:nvPr>
            <p:ph type="subTitle" idx="13"/>
          </p:nvPr>
        </p:nvSpPr>
        <p:spPr bwMode="gray">
          <a:xfrm>
            <a:off x="981948" y="1138299"/>
            <a:ext cx="8155062" cy="252000"/>
          </a:xfrm>
        </p:spPr>
        <p:txBody>
          <a:bodyPr anchor="t"/>
          <a:lstStyle>
            <a:lvl1pPr marL="0" indent="0" algn="l">
              <a:buNone/>
              <a:defRPr sz="1800">
                <a:solidFill>
                  <a:schemeClr val="accent1"/>
                </a:solidFill>
              </a:defRPr>
            </a:lvl1pPr>
            <a:lvl2pPr marL="0" indent="0" algn="l">
              <a:buNone/>
              <a:defRPr sz="1800">
                <a:solidFill>
                  <a:schemeClr val="accent1"/>
                </a:solidFill>
              </a:defRPr>
            </a:lvl2pPr>
            <a:lvl3pPr marL="0" indent="0" algn="l">
              <a:buNone/>
              <a:defRPr sz="1800">
                <a:solidFill>
                  <a:schemeClr val="accent1"/>
                </a:solidFill>
              </a:defRPr>
            </a:lvl3pPr>
            <a:lvl4pPr marL="0" indent="0" algn="l">
              <a:buNone/>
              <a:defRPr sz="1800">
                <a:solidFill>
                  <a:schemeClr val="accent1"/>
                </a:solidFill>
              </a:defRPr>
            </a:lvl4pPr>
            <a:lvl5pPr marL="0" indent="0" algn="l">
              <a:buNone/>
              <a:defRPr sz="1800">
                <a:solidFill>
                  <a:schemeClr val="accent1"/>
                </a:solidFill>
              </a:defRPr>
            </a:lvl5pPr>
            <a:lvl6pPr marL="0" indent="0" algn="l">
              <a:buNone/>
              <a:defRPr sz="1800">
                <a:solidFill>
                  <a:schemeClr val="accent1"/>
                </a:solidFill>
              </a:defRPr>
            </a:lvl6pPr>
            <a:lvl7pPr marL="0" indent="0" algn="l">
              <a:buNone/>
              <a:defRPr sz="1800">
                <a:solidFill>
                  <a:schemeClr val="accent1"/>
                </a:solidFill>
              </a:defRPr>
            </a:lvl7pPr>
            <a:lvl8pPr marL="0" indent="0" algn="l">
              <a:buNone/>
              <a:defRPr sz="1800">
                <a:solidFill>
                  <a:schemeClr val="accent1"/>
                </a:solidFill>
              </a:defRPr>
            </a:lvl8pPr>
            <a:lvl9pPr marL="0" indent="0" algn="l">
              <a:buNone/>
              <a:defRPr sz="1800">
                <a:solidFill>
                  <a:schemeClr val="accent1"/>
                </a:solidFill>
              </a:defRPr>
            </a:lvl9pPr>
          </a:lstStyle>
          <a:p>
            <a:pPr lvl="0"/>
            <a:r>
              <a:rPr lang="en-US"/>
              <a:t>Click to edit Master subtitle style</a:t>
            </a:r>
          </a:p>
        </p:txBody>
      </p:sp>
      <p:sp>
        <p:nvSpPr>
          <p:cNvPr id="2" name="Title 1"/>
          <p:cNvSpPr>
            <a:spLocks noGrp="1"/>
          </p:cNvSpPr>
          <p:nvPr>
            <p:ph type="title"/>
          </p:nvPr>
        </p:nvSpPr>
        <p:spPr bwMode="gray">
          <a:xfrm>
            <a:off x="981949" y="181938"/>
            <a:ext cx="8155062" cy="864000"/>
          </a:xfrm>
        </p:spPr>
        <p:txBody>
          <a:bodyPr/>
          <a:lstStyle/>
          <a:p>
            <a:r>
              <a:rPr lang="en-US"/>
              <a:t>Click to edit Master title style</a:t>
            </a:r>
          </a:p>
        </p:txBody>
      </p:sp>
      <p:sp>
        <p:nvSpPr>
          <p:cNvPr id="5" name="Footer Placeholder 4"/>
          <p:cNvSpPr>
            <a:spLocks noGrp="1"/>
          </p:cNvSpPr>
          <p:nvPr>
            <p:ph type="ftr" sz="quarter" idx="11"/>
          </p:nvPr>
        </p:nvSpPr>
        <p:spPr bwMode="gray"/>
        <p:txBody>
          <a:bodyPr/>
          <a:lstStyle/>
          <a:p>
            <a:r>
              <a:rPr lang="en-US"/>
              <a:t>/// VS Team Americas Kick Off /// Purpose Ignites Passion</a:t>
            </a:r>
          </a:p>
        </p:txBody>
      </p:sp>
      <p:sp>
        <p:nvSpPr>
          <p:cNvPr id="6" name="Slide Number Placeholder 5"/>
          <p:cNvSpPr>
            <a:spLocks noGrp="1"/>
          </p:cNvSpPr>
          <p:nvPr>
            <p:ph type="sldNum" sz="quarter" idx="12"/>
          </p:nvPr>
        </p:nvSpPr>
        <p:spPr bwMode="gray"/>
        <p:txBody>
          <a:bodyPr/>
          <a:lstStyle>
            <a:lvl1pPr>
              <a:defRPr>
                <a:solidFill>
                  <a:schemeClr val="tx2"/>
                </a:solidFill>
              </a:defRPr>
            </a:lvl1pPr>
          </a:lstStyle>
          <a:p>
            <a:fld id="{EEAD9179-7A6B-4268-BEB2-F3B8EB06115B}" type="slidenum">
              <a:rPr lang="en-US" smtClean="0"/>
              <a:pPr/>
              <a:t>‹#›</a:t>
            </a:fld>
            <a:endParaRPr lang="en-US"/>
          </a:p>
        </p:txBody>
      </p:sp>
      <p:sp>
        <p:nvSpPr>
          <p:cNvPr id="9" name="Logoschutz" hidden="1"/>
          <p:cNvSpPr/>
          <p:nvPr userDrawn="1">
            <p:custDataLst>
              <p:tags r:id="rId1"/>
            </p:custDataLst>
          </p:nvPr>
        </p:nvSpPr>
        <p:spPr bwMode="gray">
          <a:xfrm>
            <a:off x="86017" y="509323"/>
            <a:ext cx="612080" cy="612000"/>
          </a:xfrm>
          <a:prstGeom prst="rect">
            <a:avLst/>
          </a:prstGeom>
          <a:solidFill>
            <a:srgbClr val="00BCFF">
              <a:alpha val="3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tx1"/>
                </a:solidFill>
              </a:rPr>
              <a:t>Logo</a:t>
            </a:r>
          </a:p>
          <a:p>
            <a:pPr algn="ctr"/>
            <a:r>
              <a:rPr lang="de-DE" sz="900">
                <a:solidFill>
                  <a:schemeClr val="tx1"/>
                </a:solidFill>
              </a:rPr>
              <a:t>Schutz</a:t>
            </a:r>
          </a:p>
        </p:txBody>
      </p:sp>
      <p:pic>
        <p:nvPicPr>
          <p:cNvPr id="18" name="Picture 2">
            <a:extLst>
              <a:ext uri="{FF2B5EF4-FFF2-40B4-BE49-F238E27FC236}">
                <a16:creationId xmlns:a16="http://schemas.microsoft.com/office/drawing/2014/main" id="{28799FC0-88A8-4F0D-A429-AF1E4CE0A208}"/>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197726" y="617699"/>
            <a:ext cx="395299" cy="395248"/>
          </a:xfrm>
          <a:prstGeom prst="rect">
            <a:avLst/>
          </a:prstGeom>
          <a:noFill/>
          <a:extLst>
            <a:ext uri="{909E8E84-426E-40DD-AFC4-6F175D3DCCD1}">
              <a14:hiddenFill xmlns:a14="http://schemas.microsoft.com/office/drawing/2010/main">
                <a:solidFill>
                  <a:srgbClr val="FFFFFF"/>
                </a:solidFill>
              </a14:hiddenFill>
            </a:ext>
          </a:extLst>
        </p:spPr>
      </p:pic>
      <p:sp>
        <p:nvSpPr>
          <p:cNvPr id="19" name="MSIPCMContentMarking" descr="{&quot;HashCode&quot;:-242339457,&quot;Placement&quot;:&quot;Footer&quot;}">
            <a:extLst>
              <a:ext uri="{FF2B5EF4-FFF2-40B4-BE49-F238E27FC236}">
                <a16:creationId xmlns:a16="http://schemas.microsoft.com/office/drawing/2014/main" id="{DB43503D-5712-481A-9D85-3DF8FDC98D17}"/>
              </a:ext>
            </a:extLst>
          </p:cNvPr>
          <p:cNvSpPr txBox="1"/>
          <p:nvPr userDrawn="1"/>
        </p:nvSpPr>
        <p:spPr bwMode="gray">
          <a:xfrm>
            <a:off x="10318641" y="6390571"/>
            <a:ext cx="1873359" cy="467429"/>
          </a:xfrm>
          <a:prstGeom prst="rect">
            <a:avLst/>
          </a:prstGeom>
          <a:noFill/>
        </p:spPr>
        <p:txBody>
          <a:bodyPr vert="horz" wrap="square" lIns="0" tIns="0" rIns="0" bIns="0" rtlCol="0" anchor="ctr" anchorCtr="1">
            <a:noAutofit/>
          </a:bodyPr>
          <a:lstStyle/>
          <a:p>
            <a:pPr algn="r" rtl="0" eaLnBrk="1" fontAlgn="auto" hangingPunct="1">
              <a:lnSpc>
                <a:spcPct val="100000"/>
              </a:lnSpc>
              <a:spcBef>
                <a:spcPts val="0"/>
              </a:spcBef>
              <a:spcAft>
                <a:spcPts val="0"/>
              </a:spcAft>
            </a:pPr>
            <a:r>
              <a:rPr lang="en-US" sz="2200" b="0" i="0" u="none" baseline="0">
                <a:solidFill>
                  <a:srgbClr val="FF8939"/>
                </a:solidFill>
                <a:latin typeface="Calibri" panose="020F0502020204030204" pitchFamily="34" charset="0"/>
              </a:rPr>
              <a:t>INTERNAL</a:t>
            </a:r>
          </a:p>
        </p:txBody>
      </p:sp>
      <p:pic>
        <p:nvPicPr>
          <p:cNvPr id="16" name="Picture 15">
            <a:extLst>
              <a:ext uri="{FF2B5EF4-FFF2-40B4-BE49-F238E27FC236}">
                <a16:creationId xmlns:a16="http://schemas.microsoft.com/office/drawing/2014/main" id="{0B4EA084-B159-D748-855B-B699813D4BC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143582" y="865552"/>
            <a:ext cx="1596507" cy="457295"/>
          </a:xfrm>
          <a:prstGeom prst="rect">
            <a:avLst/>
          </a:prstGeom>
        </p:spPr>
      </p:pic>
      <p:cxnSp>
        <p:nvCxnSpPr>
          <p:cNvPr id="24" name="Straight Connector 23">
            <a:extLst>
              <a:ext uri="{FF2B5EF4-FFF2-40B4-BE49-F238E27FC236}">
                <a16:creationId xmlns:a16="http://schemas.microsoft.com/office/drawing/2014/main" id="{E776A4DB-B6BA-424A-9E60-0D2E10E27C29}"/>
              </a:ext>
            </a:extLst>
          </p:cNvPr>
          <p:cNvCxnSpPr>
            <a:cxnSpLocks/>
          </p:cNvCxnSpPr>
          <p:nvPr userDrawn="1"/>
        </p:nvCxnSpPr>
        <p:spPr bwMode="gray">
          <a:xfrm>
            <a:off x="10143582" y="755985"/>
            <a:ext cx="1596507"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113B11FF-D01F-B842-B590-C21F3F0D43A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143582" y="275259"/>
            <a:ext cx="748396" cy="375594"/>
          </a:xfrm>
          <a:prstGeom prst="rect">
            <a:avLst/>
          </a:prstGeom>
        </p:spPr>
      </p:pic>
      <p:pic>
        <p:nvPicPr>
          <p:cNvPr id="26" name="Picture 25">
            <a:extLst>
              <a:ext uri="{FF2B5EF4-FFF2-40B4-BE49-F238E27FC236}">
                <a16:creationId xmlns:a16="http://schemas.microsoft.com/office/drawing/2014/main" id="{8D4EAEF6-E075-974C-85ED-3FAA92C7BF3E}"/>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1059797" y="284843"/>
            <a:ext cx="680291" cy="353016"/>
          </a:xfrm>
          <a:prstGeom prst="rect">
            <a:avLst/>
          </a:prstGeom>
        </p:spPr>
      </p:pic>
    </p:spTree>
    <p:extLst>
      <p:ext uri="{BB962C8B-B14F-4D97-AF65-F5344CB8AC3E}">
        <p14:creationId xmlns:p14="http://schemas.microsoft.com/office/powerpoint/2010/main" val="3005124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19">
          <p15:clr>
            <a:srgbClr val="FBAE40"/>
          </p15:clr>
        </p15:guide>
        <p15:guide id="2" pos="7423">
          <p15:clr>
            <a:srgbClr val="FBAE40"/>
          </p15:clr>
        </p15:guide>
        <p15:guide id="3" orient="horz" pos="4086">
          <p15:clr>
            <a:srgbClr val="FBAE40"/>
          </p15:clr>
        </p15:guide>
        <p15:guide id="4" orient="horz" pos="1094">
          <p15:clr>
            <a:srgbClr val="FBAE40"/>
          </p15:clr>
        </p15:guide>
        <p15:guide id="5" pos="2150">
          <p15:clr>
            <a:srgbClr val="FBAE40"/>
          </p15:clr>
        </p15:guide>
        <p15:guide id="6" pos="2376">
          <p15:clr>
            <a:srgbClr val="FBAE40"/>
          </p15:clr>
        </p15:guide>
        <p15:guide id="7" pos="3908">
          <p15:clr>
            <a:srgbClr val="FBAE40"/>
          </p15:clr>
        </p15:guide>
        <p15:guide id="8" pos="4021">
          <p15:clr>
            <a:srgbClr val="FBAE40"/>
          </p15:clr>
        </p15:guide>
        <p15:guide id="9" pos="4134">
          <p15:clr>
            <a:srgbClr val="FBAE40"/>
          </p15:clr>
        </p15:guide>
        <p15:guide id="10" pos="5667">
          <p15:clr>
            <a:srgbClr val="FBAE40"/>
          </p15:clr>
        </p15:guide>
        <p15:guide id="11" pos="5894">
          <p15:clr>
            <a:srgbClr val="FBAE40"/>
          </p15:clr>
        </p15:guide>
        <p15:guide id="12" orient="horz" pos="2478">
          <p15:clr>
            <a:srgbClr val="FBAE40"/>
          </p15:clr>
        </p15:guide>
        <p15:guide id="13" orient="horz" pos="2704">
          <p15:clr>
            <a:srgbClr val="FBAE40"/>
          </p15:clr>
        </p15:guide>
        <p15:guide id="14" orient="horz" pos="259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7B8815-3138-4F84-AB22-BCD4CC9D8B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E567F-0A97-481B-9361-683160ED3E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0D56E8-771C-4A19-B4FD-905FEEA19A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69339D-036E-4E97-B649-4A9CCCFA4375}" type="datetimeFigureOut">
              <a:rPr lang="en-US" smtClean="0"/>
              <a:t>8/11/2021</a:t>
            </a:fld>
            <a:endParaRPr lang="en-US"/>
          </a:p>
        </p:txBody>
      </p:sp>
      <p:sp>
        <p:nvSpPr>
          <p:cNvPr id="5" name="Footer Placeholder 4">
            <a:extLst>
              <a:ext uri="{FF2B5EF4-FFF2-40B4-BE49-F238E27FC236}">
                <a16:creationId xmlns:a16="http://schemas.microsoft.com/office/drawing/2014/main" id="{F37415EE-5142-41ED-92F0-71E321B57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9E356A-FF02-4241-A6E8-CD0DA6F24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5256BB-7EF4-435F-9410-DE3B8EE84C72}" type="slidenum">
              <a:rPr lang="en-US" smtClean="0"/>
              <a:t>‹#›</a:t>
            </a:fld>
            <a:endParaRPr lang="en-US"/>
          </a:p>
        </p:txBody>
      </p:sp>
      <p:sp>
        <p:nvSpPr>
          <p:cNvPr id="8" name="MSIPCMContentMarking" descr="{&quot;HashCode&quot;:-242339457,&quot;Placement&quot;:&quot;Footer&quot;}">
            <a:extLst>
              <a:ext uri="{FF2B5EF4-FFF2-40B4-BE49-F238E27FC236}">
                <a16:creationId xmlns:a16="http://schemas.microsoft.com/office/drawing/2014/main" id="{D416A65C-CD9C-45FF-BA27-332B1B538621}"/>
              </a:ext>
            </a:extLst>
          </p:cNvPr>
          <p:cNvSpPr txBox="1"/>
          <p:nvPr userDrawn="1"/>
        </p:nvSpPr>
        <p:spPr>
          <a:xfrm>
            <a:off x="10318885" y="6390570"/>
            <a:ext cx="1873115" cy="467429"/>
          </a:xfrm>
          <a:prstGeom prst="rect">
            <a:avLst/>
          </a:prstGeom>
          <a:noFill/>
        </p:spPr>
        <p:txBody>
          <a:bodyPr vert="horz" wrap="square" lIns="0" tIns="0" rIns="0" bIns="0" rtlCol="0" anchor="ctr" anchorCtr="1">
            <a:spAutoFit/>
          </a:bodyPr>
          <a:lstStyle/>
          <a:p>
            <a:pPr algn="r">
              <a:spcBef>
                <a:spcPts val="0"/>
              </a:spcBef>
              <a:spcAft>
                <a:spcPts val="0"/>
              </a:spcAft>
            </a:pPr>
            <a:r>
              <a:rPr lang="en-US" sz="2200">
                <a:solidFill>
                  <a:srgbClr val="FF8939"/>
                </a:solidFill>
                <a:latin typeface="Calibri" panose="020F0502020204030204" pitchFamily="34" charset="0"/>
              </a:rPr>
              <a:t>RESTRICTED</a:t>
            </a:r>
          </a:p>
        </p:txBody>
      </p:sp>
    </p:spTree>
    <p:extLst>
      <p:ext uri="{BB962C8B-B14F-4D97-AF65-F5344CB8AC3E}">
        <p14:creationId xmlns:p14="http://schemas.microsoft.com/office/powerpoint/2010/main" val="3792884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1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image" Target="../media/image13.jpe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105AC8-DCF5-47C0-8E80-C7221F0E58E2}"/>
              </a:ext>
            </a:extLst>
          </p:cNvPr>
          <p:cNvPicPr>
            <a:picLocks noChangeAspect="1"/>
          </p:cNvPicPr>
          <p:nvPr/>
        </p:nvPicPr>
        <p:blipFill rotWithShape="1">
          <a:blip r:embed="rId2"/>
          <a:srcRect t="3810" r="11356" b="21515"/>
          <a:stretch/>
        </p:blipFill>
        <p:spPr>
          <a:xfrm>
            <a:off x="0" y="0"/>
            <a:ext cx="12192000" cy="6857997"/>
          </a:xfrm>
          <a:prstGeom prst="rect">
            <a:avLst/>
          </a:prstGeom>
        </p:spPr>
      </p:pic>
      <p:sp>
        <p:nvSpPr>
          <p:cNvPr id="5" name="Flowchart: Manual Input 4">
            <a:extLst>
              <a:ext uri="{FF2B5EF4-FFF2-40B4-BE49-F238E27FC236}">
                <a16:creationId xmlns:a16="http://schemas.microsoft.com/office/drawing/2014/main" id="{343698DD-9B81-494B-88C6-1CDD779E0BE9}"/>
              </a:ext>
            </a:extLst>
          </p:cNvPr>
          <p:cNvSpPr/>
          <p:nvPr/>
        </p:nvSpPr>
        <p:spPr>
          <a:xfrm rot="16200000" flipV="1">
            <a:off x="-228600" y="228602"/>
            <a:ext cx="6858002" cy="6400801"/>
          </a:xfrm>
          <a:prstGeom prst="flowChartManualInput">
            <a:avLst/>
          </a:prstGeom>
          <a:solidFill>
            <a:srgbClr val="10384F">
              <a:alpha val="85882"/>
            </a:srgbClr>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BF5A76F-E89B-4DFE-9988-B555047C964D}"/>
              </a:ext>
            </a:extLst>
          </p:cNvPr>
          <p:cNvSpPr>
            <a:spLocks noGrp="1"/>
          </p:cNvSpPr>
          <p:nvPr>
            <p:ph idx="1"/>
          </p:nvPr>
        </p:nvSpPr>
        <p:spPr>
          <a:xfrm>
            <a:off x="409033" y="4296411"/>
            <a:ext cx="5034234" cy="1449687"/>
          </a:xfrm>
        </p:spPr>
        <p:txBody>
          <a:bodyPr/>
          <a:lstStyle/>
          <a:p>
            <a:pPr marL="0" indent="0" algn="ctr">
              <a:buNone/>
            </a:pPr>
            <a:r>
              <a:rPr lang="en-US" dirty="0">
                <a:solidFill>
                  <a:schemeClr val="bg1"/>
                </a:solidFill>
              </a:rPr>
              <a:t>Maggie Zhu</a:t>
            </a:r>
          </a:p>
          <a:p>
            <a:pPr marL="0" indent="0">
              <a:buNone/>
            </a:pPr>
            <a:r>
              <a:rPr lang="en-US" dirty="0">
                <a:solidFill>
                  <a:schemeClr val="bg1"/>
                </a:solidFill>
              </a:rPr>
              <a:t>Vegetable Breeding R&amp;D Intern</a:t>
            </a:r>
          </a:p>
        </p:txBody>
      </p:sp>
      <p:sp>
        <p:nvSpPr>
          <p:cNvPr id="8" name="Title 1">
            <a:extLst>
              <a:ext uri="{FF2B5EF4-FFF2-40B4-BE49-F238E27FC236}">
                <a16:creationId xmlns:a16="http://schemas.microsoft.com/office/drawing/2014/main" id="{2C838210-C5DB-429E-B0C8-BAF0CA554D4C}"/>
              </a:ext>
            </a:extLst>
          </p:cNvPr>
          <p:cNvSpPr>
            <a:spLocks noGrp="1"/>
          </p:cNvSpPr>
          <p:nvPr>
            <p:ph type="title"/>
          </p:nvPr>
        </p:nvSpPr>
        <p:spPr>
          <a:xfrm>
            <a:off x="116342" y="1184635"/>
            <a:ext cx="5843302" cy="1630755"/>
          </a:xfrm>
        </p:spPr>
        <p:txBody>
          <a:bodyPr>
            <a:noAutofit/>
          </a:bodyPr>
          <a:lstStyle/>
          <a:p>
            <a:pPr algn="ctr"/>
            <a:r>
              <a:rPr lang="en-US" sz="3400" dirty="0">
                <a:solidFill>
                  <a:schemeClr val="bg1"/>
                </a:solidFill>
              </a:rPr>
              <a:t>2021 LSRB Intern Project​</a:t>
            </a:r>
            <a:br>
              <a:rPr lang="en-US" sz="3400" dirty="0">
                <a:solidFill>
                  <a:schemeClr val="bg1"/>
                </a:solidFill>
              </a:rPr>
            </a:br>
            <a:r>
              <a:rPr lang="en-US" sz="3400" dirty="0">
                <a:solidFill>
                  <a:schemeClr val="bg1"/>
                </a:solidFill>
              </a:rPr>
              <a:t>-POC for high throughput phenotypic trait ​</a:t>
            </a:r>
          </a:p>
        </p:txBody>
      </p:sp>
      <p:sp>
        <p:nvSpPr>
          <p:cNvPr id="9" name="Title 1">
            <a:extLst>
              <a:ext uri="{FF2B5EF4-FFF2-40B4-BE49-F238E27FC236}">
                <a16:creationId xmlns:a16="http://schemas.microsoft.com/office/drawing/2014/main" id="{ECBF4FF3-B766-4F90-AA32-5B5ADE54B32D}"/>
              </a:ext>
            </a:extLst>
          </p:cNvPr>
          <p:cNvSpPr txBox="1">
            <a:spLocks/>
          </p:cNvSpPr>
          <p:nvPr/>
        </p:nvSpPr>
        <p:spPr>
          <a:xfrm>
            <a:off x="606058" y="2952906"/>
            <a:ext cx="4640183" cy="8368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400" dirty="0">
              <a:solidFill>
                <a:schemeClr val="bg1"/>
              </a:solidFill>
            </a:endParaRPr>
          </a:p>
        </p:txBody>
      </p:sp>
      <p:sp>
        <p:nvSpPr>
          <p:cNvPr id="10" name="Title 1">
            <a:extLst>
              <a:ext uri="{FF2B5EF4-FFF2-40B4-BE49-F238E27FC236}">
                <a16:creationId xmlns:a16="http://schemas.microsoft.com/office/drawing/2014/main" id="{375ACCD4-5DC0-435F-AF59-636920131592}"/>
              </a:ext>
            </a:extLst>
          </p:cNvPr>
          <p:cNvSpPr txBox="1">
            <a:spLocks/>
          </p:cNvSpPr>
          <p:nvPr/>
        </p:nvSpPr>
        <p:spPr>
          <a:xfrm>
            <a:off x="1153250" y="3062424"/>
            <a:ext cx="3545798" cy="684416"/>
          </a:xfrm>
          <a:prstGeom prst="rect">
            <a:avLst/>
          </a:prstGeom>
          <a:ln>
            <a:solidFill>
              <a:schemeClr val="bg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rPr>
              <a:t>Veg R&amp;D Presentations </a:t>
            </a:r>
          </a:p>
          <a:p>
            <a:pPr algn="ctr"/>
            <a:r>
              <a:rPr lang="en-US" sz="2400" b="1" dirty="0">
                <a:solidFill>
                  <a:schemeClr val="bg1"/>
                </a:solidFill>
              </a:rPr>
              <a:t>Aug 19th</a:t>
            </a:r>
          </a:p>
        </p:txBody>
      </p:sp>
    </p:spTree>
    <p:extLst>
      <p:ext uri="{BB962C8B-B14F-4D97-AF65-F5344CB8AC3E}">
        <p14:creationId xmlns:p14="http://schemas.microsoft.com/office/powerpoint/2010/main" val="3264611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Close-up of an ear of fresh corn">
            <a:extLst>
              <a:ext uri="{FF2B5EF4-FFF2-40B4-BE49-F238E27FC236}">
                <a16:creationId xmlns:a16="http://schemas.microsoft.com/office/drawing/2014/main" id="{F3F74EE5-32BD-4DDE-AE7A-90E64001C1C5}"/>
              </a:ext>
            </a:extLst>
          </p:cNvPr>
          <p:cNvPicPr>
            <a:picLocks noChangeAspect="1"/>
          </p:cNvPicPr>
          <p:nvPr/>
        </p:nvPicPr>
        <p:blipFill rotWithShape="1">
          <a:blip r:embed="rId3"/>
          <a:srcRect l="16675" r="16675"/>
          <a:stretch/>
        </p:blipFill>
        <p:spPr>
          <a:xfrm flipH="1">
            <a:off x="5466006" y="1461395"/>
            <a:ext cx="6725993" cy="5423545"/>
          </a:xfrm>
          <a:prstGeom prst="rect">
            <a:avLst/>
          </a:prstGeom>
        </p:spPr>
      </p:pic>
      <p:sp>
        <p:nvSpPr>
          <p:cNvPr id="9" name="Parallelogram 8">
            <a:extLst>
              <a:ext uri="{FF2B5EF4-FFF2-40B4-BE49-F238E27FC236}">
                <a16:creationId xmlns:a16="http://schemas.microsoft.com/office/drawing/2014/main" id="{AF3B9174-D5F0-48E6-B30A-B2091D8646BE}"/>
              </a:ext>
            </a:extLst>
          </p:cNvPr>
          <p:cNvSpPr/>
          <p:nvPr/>
        </p:nvSpPr>
        <p:spPr>
          <a:xfrm>
            <a:off x="201126" y="1461395"/>
            <a:ext cx="8627876" cy="5423544"/>
          </a:xfrm>
          <a:prstGeom prst="parallelogram">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ubtitle 1">
            <a:extLst>
              <a:ext uri="{FF2B5EF4-FFF2-40B4-BE49-F238E27FC236}">
                <a16:creationId xmlns:a16="http://schemas.microsoft.com/office/drawing/2014/main" id="{FA9FC116-F212-4014-9A42-C2A4AB3B9C8A}"/>
              </a:ext>
            </a:extLst>
          </p:cNvPr>
          <p:cNvSpPr>
            <a:spLocks noGrp="1"/>
          </p:cNvSpPr>
          <p:nvPr>
            <p:ph type="subTitle" idx="13"/>
          </p:nvPr>
        </p:nvSpPr>
        <p:spPr/>
        <p:txBody>
          <a:bodyPr>
            <a:normAutofit fontScale="77500" lnSpcReduction="20000"/>
          </a:bodyPr>
          <a:lstStyle/>
          <a:p>
            <a:endParaRPr lang="en-US"/>
          </a:p>
        </p:txBody>
      </p:sp>
      <p:sp>
        <p:nvSpPr>
          <p:cNvPr id="3" name="Title 2">
            <a:extLst>
              <a:ext uri="{FF2B5EF4-FFF2-40B4-BE49-F238E27FC236}">
                <a16:creationId xmlns:a16="http://schemas.microsoft.com/office/drawing/2014/main" id="{AFF2A5D0-2F92-4B65-890A-C0B5D7799F1E}"/>
              </a:ext>
            </a:extLst>
          </p:cNvPr>
          <p:cNvSpPr>
            <a:spLocks noGrp="1"/>
          </p:cNvSpPr>
          <p:nvPr>
            <p:ph type="title"/>
          </p:nvPr>
        </p:nvSpPr>
        <p:spPr>
          <a:xfrm>
            <a:off x="981949" y="181938"/>
            <a:ext cx="8627877" cy="864000"/>
          </a:xfrm>
        </p:spPr>
        <p:txBody>
          <a:bodyPr>
            <a:normAutofit fontScale="90000"/>
          </a:bodyPr>
          <a:lstStyle/>
          <a:p>
            <a:r>
              <a:rPr lang="en-US" dirty="0">
                <a:cs typeface="Calibri Light"/>
              </a:rPr>
              <a:t>Sweet Corn Breeding Pipeline at a glance</a:t>
            </a:r>
            <a:endParaRPr lang="en-US" dirty="0"/>
          </a:p>
        </p:txBody>
      </p:sp>
      <p:sp>
        <p:nvSpPr>
          <p:cNvPr id="4" name="Content Placeholder 3">
            <a:extLst>
              <a:ext uri="{FF2B5EF4-FFF2-40B4-BE49-F238E27FC236}">
                <a16:creationId xmlns:a16="http://schemas.microsoft.com/office/drawing/2014/main" id="{2BB74E8D-3B1F-4402-A7BD-3BF7AE7F776C}"/>
              </a:ext>
            </a:extLst>
          </p:cNvPr>
          <p:cNvSpPr>
            <a:spLocks noGrp="1"/>
          </p:cNvSpPr>
          <p:nvPr>
            <p:ph sz="quarter" idx="14"/>
          </p:nvPr>
        </p:nvSpPr>
        <p:spPr>
          <a:xfrm>
            <a:off x="1777845" y="1513195"/>
            <a:ext cx="5440117" cy="4751999"/>
          </a:xfrm>
        </p:spPr>
        <p:txBody>
          <a:bodyPr>
            <a:normAutofit/>
          </a:bodyPr>
          <a:lstStyle/>
          <a:p>
            <a:pPr marL="0" indent="0">
              <a:buNone/>
            </a:pPr>
            <a:r>
              <a:rPr lang="en-US" sz="4000" dirty="0">
                <a:solidFill>
                  <a:schemeClr val="bg1"/>
                </a:solidFill>
              </a:rPr>
              <a:t>5 Breeders</a:t>
            </a:r>
          </a:p>
          <a:p>
            <a:pPr marL="0" indent="0">
              <a:buNone/>
            </a:pPr>
            <a:endParaRPr lang="en-US" sz="1000" dirty="0">
              <a:solidFill>
                <a:schemeClr val="bg1"/>
              </a:solidFill>
            </a:endParaRPr>
          </a:p>
          <a:p>
            <a:pPr marL="0" indent="0">
              <a:buNone/>
            </a:pPr>
            <a:r>
              <a:rPr lang="en-US" sz="4000" dirty="0">
                <a:solidFill>
                  <a:schemeClr val="bg1"/>
                </a:solidFill>
              </a:rPr>
              <a:t>3 Locations</a:t>
            </a:r>
          </a:p>
          <a:p>
            <a:pPr marL="0" indent="0">
              <a:buNone/>
            </a:pPr>
            <a:endParaRPr lang="en-US" sz="1000" dirty="0">
              <a:solidFill>
                <a:schemeClr val="bg1"/>
              </a:solidFill>
            </a:endParaRPr>
          </a:p>
          <a:p>
            <a:pPr marL="0" indent="0">
              <a:buNone/>
            </a:pPr>
            <a:r>
              <a:rPr lang="en-US" sz="4000" dirty="0">
                <a:solidFill>
                  <a:schemeClr val="bg1"/>
                </a:solidFill>
              </a:rPr>
              <a:t>2 Climates</a:t>
            </a:r>
          </a:p>
          <a:p>
            <a:pPr marL="0" indent="0">
              <a:buNone/>
            </a:pPr>
            <a:r>
              <a:rPr lang="en-US" sz="3200" dirty="0">
                <a:solidFill>
                  <a:schemeClr val="bg1"/>
                </a:solidFill>
              </a:rPr>
              <a:t>// Temperate</a:t>
            </a:r>
          </a:p>
          <a:p>
            <a:pPr marL="0" indent="0">
              <a:buNone/>
            </a:pPr>
            <a:r>
              <a:rPr lang="en-US" sz="3200" dirty="0">
                <a:solidFill>
                  <a:schemeClr val="bg1"/>
                </a:solidFill>
              </a:rPr>
              <a:t>// Tropical</a:t>
            </a:r>
          </a:p>
        </p:txBody>
      </p:sp>
      <p:sp>
        <p:nvSpPr>
          <p:cNvPr id="13" name="Content Placeholder 3">
            <a:extLst>
              <a:ext uri="{FF2B5EF4-FFF2-40B4-BE49-F238E27FC236}">
                <a16:creationId xmlns:a16="http://schemas.microsoft.com/office/drawing/2014/main" id="{6D8244F5-F8C8-49F4-8A83-3EA8123E77E1}"/>
              </a:ext>
            </a:extLst>
          </p:cNvPr>
          <p:cNvSpPr txBox="1">
            <a:spLocks/>
          </p:cNvSpPr>
          <p:nvPr/>
        </p:nvSpPr>
        <p:spPr>
          <a:xfrm>
            <a:off x="4769376" y="1537297"/>
            <a:ext cx="5440117" cy="47519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Tx/>
              <a:buBlip>
                <a:blip r:embed="rId4"/>
              </a:buBlip>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4"/>
              </a:buBlip>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Blip>
                <a:blip r:embed="rId4"/>
              </a:buBlip>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Blip>
                <a:blip r:embed="rId4"/>
              </a:buBlip>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chemeClr val="bg1"/>
                </a:solidFill>
              </a:rPr>
              <a:t>2 Segments</a:t>
            </a:r>
          </a:p>
          <a:p>
            <a:pPr marL="0" indent="0">
              <a:buFont typeface="Arial" panose="020B0604020202020204" pitchFamily="34" charset="0"/>
              <a:buNone/>
            </a:pPr>
            <a:r>
              <a:rPr lang="en-US" sz="3200" dirty="0">
                <a:solidFill>
                  <a:schemeClr val="bg1"/>
                </a:solidFill>
              </a:rPr>
              <a:t>//Fresh Market</a:t>
            </a:r>
          </a:p>
          <a:p>
            <a:pPr marL="0" indent="0">
              <a:buFont typeface="Arial" panose="020B0604020202020204" pitchFamily="34" charset="0"/>
              <a:buNone/>
            </a:pPr>
            <a:r>
              <a:rPr lang="en-US" sz="3200" dirty="0">
                <a:solidFill>
                  <a:schemeClr val="bg1"/>
                </a:solidFill>
              </a:rPr>
              <a:t>//Processor Market</a:t>
            </a:r>
          </a:p>
        </p:txBody>
      </p:sp>
      <p:sp>
        <p:nvSpPr>
          <p:cNvPr id="10" name="TextBox 9">
            <a:extLst>
              <a:ext uri="{FF2B5EF4-FFF2-40B4-BE49-F238E27FC236}">
                <a16:creationId xmlns:a16="http://schemas.microsoft.com/office/drawing/2014/main" id="{BF2FDDAA-D202-4938-94DC-323594187353}"/>
              </a:ext>
            </a:extLst>
          </p:cNvPr>
          <p:cNvSpPr txBox="1"/>
          <p:nvPr/>
        </p:nvSpPr>
        <p:spPr>
          <a:xfrm>
            <a:off x="1594868" y="5380913"/>
            <a:ext cx="5943755" cy="1477328"/>
          </a:xfrm>
          <a:prstGeom prst="rect">
            <a:avLst/>
          </a:prstGeom>
          <a:noFill/>
        </p:spPr>
        <p:txBody>
          <a:bodyPr wrap="square" rtlCol="0">
            <a:spAutoFit/>
          </a:bodyPr>
          <a:lstStyle/>
          <a:p>
            <a:r>
              <a:rPr lang="en-US" sz="3000" i="1" dirty="0">
                <a:solidFill>
                  <a:srgbClr val="FFFFFF"/>
                </a:solidFill>
                <a:latin typeface="Calibri "/>
                <a:cs typeface="Arial"/>
              </a:rPr>
              <a:t>We seek to deliver  best varieties that meet the need of  grower, costumers, and consumers.</a:t>
            </a:r>
            <a:endParaRPr lang="en-US" sz="3000" dirty="0">
              <a:latin typeface="Calibri "/>
            </a:endParaRPr>
          </a:p>
        </p:txBody>
      </p:sp>
      <p:cxnSp>
        <p:nvCxnSpPr>
          <p:cNvPr id="17" name="Straight Connector 16">
            <a:extLst>
              <a:ext uri="{FF2B5EF4-FFF2-40B4-BE49-F238E27FC236}">
                <a16:creationId xmlns:a16="http://schemas.microsoft.com/office/drawing/2014/main" id="{392BBB39-B631-48C7-B6EF-D8FA6DA82785}"/>
              </a:ext>
            </a:extLst>
          </p:cNvPr>
          <p:cNvCxnSpPr>
            <a:cxnSpLocks/>
          </p:cNvCxnSpPr>
          <p:nvPr/>
        </p:nvCxnSpPr>
        <p:spPr>
          <a:xfrm flipH="1">
            <a:off x="1020130" y="5469813"/>
            <a:ext cx="437054" cy="12354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54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48B55B-7520-40BA-B7FD-0B00F8309DE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03" t="25432" r="-603" b="330"/>
          <a:stretch/>
        </p:blipFill>
        <p:spPr>
          <a:xfrm>
            <a:off x="510341" y="3066349"/>
            <a:ext cx="11591491" cy="2866729"/>
          </a:xfrm>
          <a:prstGeom prst="rect">
            <a:avLst/>
          </a:prstGeom>
        </p:spPr>
      </p:pic>
      <p:sp>
        <p:nvSpPr>
          <p:cNvPr id="3" name="Title 2">
            <a:extLst>
              <a:ext uri="{FF2B5EF4-FFF2-40B4-BE49-F238E27FC236}">
                <a16:creationId xmlns:a16="http://schemas.microsoft.com/office/drawing/2014/main" id="{DDF07F9B-89A1-4D35-9DF2-891637E2A08D}"/>
              </a:ext>
            </a:extLst>
          </p:cNvPr>
          <p:cNvSpPr>
            <a:spLocks noGrp="1"/>
          </p:cNvSpPr>
          <p:nvPr>
            <p:ph type="title"/>
          </p:nvPr>
        </p:nvSpPr>
        <p:spPr>
          <a:xfrm>
            <a:off x="1033782" y="43077"/>
            <a:ext cx="9125921" cy="864000"/>
          </a:xfrm>
        </p:spPr>
        <p:txBody>
          <a:bodyPr>
            <a:normAutofit/>
          </a:bodyPr>
          <a:lstStyle/>
          <a:p>
            <a:r>
              <a:rPr lang="en-US" dirty="0">
                <a:cs typeface="Calibri Light"/>
              </a:rPr>
              <a:t>Sweet Corn Processor Market</a:t>
            </a:r>
            <a:endParaRPr lang="en-US" dirty="0"/>
          </a:p>
        </p:txBody>
      </p:sp>
      <p:sp>
        <p:nvSpPr>
          <p:cNvPr id="16" name="TextBox 15">
            <a:extLst>
              <a:ext uri="{FF2B5EF4-FFF2-40B4-BE49-F238E27FC236}">
                <a16:creationId xmlns:a16="http://schemas.microsoft.com/office/drawing/2014/main" id="{B168E57D-81FA-46D7-82B9-A36ABE1D6443}"/>
              </a:ext>
            </a:extLst>
          </p:cNvPr>
          <p:cNvSpPr txBox="1"/>
          <p:nvPr/>
        </p:nvSpPr>
        <p:spPr>
          <a:xfrm>
            <a:off x="738790" y="1849383"/>
            <a:ext cx="40044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2050" name="Picture 2">
            <a:extLst>
              <a:ext uri="{FF2B5EF4-FFF2-40B4-BE49-F238E27FC236}">
                <a16:creationId xmlns:a16="http://schemas.microsoft.com/office/drawing/2014/main" id="{60682563-3870-402E-B4F8-0D61F13467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51" r="4409"/>
          <a:stretch/>
        </p:blipFill>
        <p:spPr bwMode="auto">
          <a:xfrm>
            <a:off x="5892540" y="1333749"/>
            <a:ext cx="2462591" cy="16486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54" name="Picture 6" descr="Image preview">
            <a:extLst>
              <a:ext uri="{FF2B5EF4-FFF2-40B4-BE49-F238E27FC236}">
                <a16:creationId xmlns:a16="http://schemas.microsoft.com/office/drawing/2014/main" id="{68FD0CB5-42D7-4B4D-9AC9-59C281D32DE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8787" t="51002" b="-1"/>
          <a:stretch/>
        </p:blipFill>
        <p:spPr bwMode="auto">
          <a:xfrm>
            <a:off x="2863846" y="1363395"/>
            <a:ext cx="2413000" cy="16147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10" name="Straight Arrow Connector 9">
            <a:extLst>
              <a:ext uri="{FF2B5EF4-FFF2-40B4-BE49-F238E27FC236}">
                <a16:creationId xmlns:a16="http://schemas.microsoft.com/office/drawing/2014/main" id="{66630813-5C41-4002-AA11-1DE28B19EFFA}"/>
              </a:ext>
            </a:extLst>
          </p:cNvPr>
          <p:cNvCxnSpPr>
            <a:cxnSpLocks/>
          </p:cNvCxnSpPr>
          <p:nvPr/>
        </p:nvCxnSpPr>
        <p:spPr>
          <a:xfrm flipV="1">
            <a:off x="4927600" y="3083939"/>
            <a:ext cx="2082800" cy="205345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4C04CBC-96DD-48B9-9BF7-FE72D695BE1A}"/>
              </a:ext>
            </a:extLst>
          </p:cNvPr>
          <p:cNvCxnSpPr>
            <a:cxnSpLocks/>
          </p:cNvCxnSpPr>
          <p:nvPr/>
        </p:nvCxnSpPr>
        <p:spPr>
          <a:xfrm flipV="1">
            <a:off x="4253140" y="3083938"/>
            <a:ext cx="122378" cy="165743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35">
            <a:extLst>
              <a:ext uri="{FF2B5EF4-FFF2-40B4-BE49-F238E27FC236}">
                <a16:creationId xmlns:a16="http://schemas.microsoft.com/office/drawing/2014/main" id="{52C43BE4-8331-4A8A-A2B3-6F950B6AF8E4}"/>
              </a:ext>
            </a:extLst>
          </p:cNvPr>
          <p:cNvPicPr>
            <a:picLocks noChangeAspect="1"/>
          </p:cNvPicPr>
          <p:nvPr/>
        </p:nvPicPr>
        <p:blipFill rotWithShape="1">
          <a:blip r:embed="rId5"/>
          <a:srcRect r="12572"/>
          <a:stretch/>
        </p:blipFill>
        <p:spPr>
          <a:xfrm rot="2580000">
            <a:off x="956135" y="891924"/>
            <a:ext cx="1071863" cy="1732058"/>
          </a:xfrm>
          <a:prstGeom prst="rect">
            <a:avLst/>
          </a:prstGeom>
        </p:spPr>
      </p:pic>
      <p:sp>
        <p:nvSpPr>
          <p:cNvPr id="21" name="Equals 20">
            <a:extLst>
              <a:ext uri="{FF2B5EF4-FFF2-40B4-BE49-F238E27FC236}">
                <a16:creationId xmlns:a16="http://schemas.microsoft.com/office/drawing/2014/main" id="{4218110A-7B9D-4B06-868E-0F1CFB0703D7}"/>
              </a:ext>
            </a:extLst>
          </p:cNvPr>
          <p:cNvSpPr/>
          <p:nvPr/>
        </p:nvSpPr>
        <p:spPr>
          <a:xfrm>
            <a:off x="2196482" y="1594886"/>
            <a:ext cx="556705" cy="527543"/>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Plus Sign 21">
            <a:extLst>
              <a:ext uri="{FF2B5EF4-FFF2-40B4-BE49-F238E27FC236}">
                <a16:creationId xmlns:a16="http://schemas.microsoft.com/office/drawing/2014/main" id="{3A39D8CC-F20A-490D-A1F3-0B527ED42D51}"/>
              </a:ext>
            </a:extLst>
          </p:cNvPr>
          <p:cNvSpPr/>
          <p:nvPr/>
        </p:nvSpPr>
        <p:spPr>
          <a:xfrm>
            <a:off x="5387505" y="1809903"/>
            <a:ext cx="476676" cy="531577"/>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How to Use a Whole Ear of Corn">
            <a:extLst>
              <a:ext uri="{FF2B5EF4-FFF2-40B4-BE49-F238E27FC236}">
                <a16:creationId xmlns:a16="http://schemas.microsoft.com/office/drawing/2014/main" id="{99F3EAC4-680B-415E-A605-86856B38A62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5349" t="18048" r="26452" b="7005"/>
          <a:stretch/>
        </p:blipFill>
        <p:spPr bwMode="auto">
          <a:xfrm>
            <a:off x="8841858" y="1293492"/>
            <a:ext cx="2035005" cy="16772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3" name="Plus Sign 32">
            <a:extLst>
              <a:ext uri="{FF2B5EF4-FFF2-40B4-BE49-F238E27FC236}">
                <a16:creationId xmlns:a16="http://schemas.microsoft.com/office/drawing/2014/main" id="{9C53FC81-A4CB-48C9-A73F-C0E9F58BE754}"/>
              </a:ext>
            </a:extLst>
          </p:cNvPr>
          <p:cNvSpPr/>
          <p:nvPr/>
        </p:nvSpPr>
        <p:spPr>
          <a:xfrm>
            <a:off x="8383490" y="1776477"/>
            <a:ext cx="476676" cy="531577"/>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DB082DD-A9E1-416A-98AC-AE8C9B4F3641}"/>
              </a:ext>
            </a:extLst>
          </p:cNvPr>
          <p:cNvSpPr txBox="1"/>
          <p:nvPr/>
        </p:nvSpPr>
        <p:spPr>
          <a:xfrm>
            <a:off x="3721239" y="1073581"/>
            <a:ext cx="1063803" cy="369332"/>
          </a:xfrm>
          <a:prstGeom prst="rect">
            <a:avLst/>
          </a:prstGeom>
          <a:noFill/>
        </p:spPr>
        <p:txBody>
          <a:bodyPr wrap="square" rtlCol="0">
            <a:spAutoFit/>
          </a:bodyPr>
          <a:lstStyle/>
          <a:p>
            <a:r>
              <a:rPr lang="en-US" dirty="0"/>
              <a:t>Cob</a:t>
            </a:r>
          </a:p>
        </p:txBody>
      </p:sp>
      <p:sp>
        <p:nvSpPr>
          <p:cNvPr id="37" name="TextBox 36">
            <a:extLst>
              <a:ext uri="{FF2B5EF4-FFF2-40B4-BE49-F238E27FC236}">
                <a16:creationId xmlns:a16="http://schemas.microsoft.com/office/drawing/2014/main" id="{88576262-891F-4941-ACD8-D3857167DCB2}"/>
              </a:ext>
            </a:extLst>
          </p:cNvPr>
          <p:cNvSpPr txBox="1"/>
          <p:nvPr/>
        </p:nvSpPr>
        <p:spPr>
          <a:xfrm>
            <a:off x="8621828" y="945021"/>
            <a:ext cx="1836517" cy="369332"/>
          </a:xfrm>
          <a:prstGeom prst="rect">
            <a:avLst/>
          </a:prstGeom>
          <a:noFill/>
        </p:spPr>
        <p:txBody>
          <a:bodyPr wrap="square" rtlCol="0">
            <a:spAutoFit/>
          </a:bodyPr>
          <a:lstStyle/>
          <a:p>
            <a:r>
              <a:rPr lang="en-US" dirty="0"/>
              <a:t>Leaves and shank</a:t>
            </a:r>
          </a:p>
        </p:txBody>
      </p:sp>
      <p:sp>
        <p:nvSpPr>
          <p:cNvPr id="38" name="TextBox 37">
            <a:extLst>
              <a:ext uri="{FF2B5EF4-FFF2-40B4-BE49-F238E27FC236}">
                <a16:creationId xmlns:a16="http://schemas.microsoft.com/office/drawing/2014/main" id="{A88B8E46-EE03-425D-9F58-8C29DAABBBB8}"/>
              </a:ext>
            </a:extLst>
          </p:cNvPr>
          <p:cNvSpPr txBox="1"/>
          <p:nvPr/>
        </p:nvSpPr>
        <p:spPr>
          <a:xfrm>
            <a:off x="6790301" y="999429"/>
            <a:ext cx="1063803" cy="369332"/>
          </a:xfrm>
          <a:prstGeom prst="rect">
            <a:avLst/>
          </a:prstGeom>
          <a:noFill/>
        </p:spPr>
        <p:txBody>
          <a:bodyPr wrap="square" rtlCol="0">
            <a:spAutoFit/>
          </a:bodyPr>
          <a:lstStyle/>
          <a:p>
            <a:r>
              <a:rPr lang="en-US" b="1" dirty="0"/>
              <a:t>Kernels</a:t>
            </a:r>
          </a:p>
        </p:txBody>
      </p:sp>
      <p:sp>
        <p:nvSpPr>
          <p:cNvPr id="44" name="Parallelogram 43">
            <a:extLst>
              <a:ext uri="{FF2B5EF4-FFF2-40B4-BE49-F238E27FC236}">
                <a16:creationId xmlns:a16="http://schemas.microsoft.com/office/drawing/2014/main" id="{90DA5832-1681-491C-B3EF-19905C64364D}"/>
              </a:ext>
            </a:extLst>
          </p:cNvPr>
          <p:cNvSpPr/>
          <p:nvPr/>
        </p:nvSpPr>
        <p:spPr>
          <a:xfrm>
            <a:off x="2877751" y="5993064"/>
            <a:ext cx="6436498" cy="811119"/>
          </a:xfrm>
          <a:prstGeom prst="parallelogram">
            <a:avLst/>
          </a:prstGeom>
          <a:solidFill>
            <a:srgbClr val="10384F">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5E30ABE-42FE-4DBE-9837-917E3ACC9E49}"/>
                  </a:ext>
                </a:extLst>
              </p:cNvPr>
              <p:cNvSpPr txBox="1"/>
              <p:nvPr/>
            </p:nvSpPr>
            <p:spPr>
              <a:xfrm>
                <a:off x="3042709" y="6046024"/>
                <a:ext cx="5699662" cy="618631"/>
              </a:xfrm>
              <a:prstGeom prst="rect">
                <a:avLst/>
              </a:prstGeom>
              <a:noFill/>
            </p:spPr>
            <p:txBody>
              <a:bodyPr wrap="square" rtlCol="0">
                <a:spAutoFit/>
              </a:bodyPr>
              <a:lstStyle/>
              <a:p>
                <a:r>
                  <a:rPr lang="en-US" sz="2200" dirty="0">
                    <a:solidFill>
                      <a:schemeClr val="tx1"/>
                    </a:solidFill>
                    <a:effectLst>
                      <a:outerShdw blurRad="38100" dist="38100" dir="2700000" algn="tl">
                        <a:srgbClr val="000000">
                          <a:alpha val="43137"/>
                        </a:srgbClr>
                      </a:outerShdw>
                    </a:effectLst>
                  </a:rPr>
                  <a:t>Percent Recovery=</a:t>
                </a:r>
                <a14:m>
                  <m:oMath xmlns:m="http://schemas.openxmlformats.org/officeDocument/2006/math">
                    <m:f>
                      <m:fPr>
                        <m:ctrlPr>
                          <a:rPr lang="en-US" sz="2200" i="1" smtClean="0">
                            <a:solidFill>
                              <a:schemeClr val="tx1"/>
                            </a:solidFill>
                            <a:effectLst>
                              <a:outerShdw blurRad="38100" dist="38100" dir="2700000" algn="tl">
                                <a:srgbClr val="000000">
                                  <a:alpha val="43137"/>
                                </a:srgbClr>
                              </a:outerShdw>
                            </a:effectLst>
                            <a:latin typeface="Cambria Math" panose="02040503050406030204" pitchFamily="18" charset="0"/>
                          </a:rPr>
                        </m:ctrlPr>
                      </m:fPr>
                      <m:num>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𝑘𝑒𝑟𝑛𝑒𝑙</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 </m:t>
                        </m:r>
                        <m:r>
                          <a:rPr lang="en-US" sz="2200" b="0" i="1" dirty="0" smtClean="0">
                            <a:solidFill>
                              <a:schemeClr val="tx1"/>
                            </a:solidFill>
                            <a:effectLst>
                              <a:outerShdw blurRad="38100" dist="38100" dir="2700000" algn="tl">
                                <a:srgbClr val="000000">
                                  <a:alpha val="43137"/>
                                </a:srgbClr>
                              </a:outerShdw>
                            </a:effectLst>
                            <a:latin typeface="Cambria Math" panose="02040503050406030204" pitchFamily="18" charset="0"/>
                          </a:rPr>
                          <m:t>𝑚𝑎𝑠𝑠</m:t>
                        </m:r>
                      </m:num>
                      <m:den>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𝑤h𝑜𝑙𝑒</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 </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𝑒𝑎𝑟</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 </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𝑚𝑎𝑠𝑠</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 </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𝑏𝑒𝑓𝑜𝑟𝑒</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 </m:t>
                        </m:r>
                        <m:r>
                          <a:rPr lang="en-US" sz="2200" b="0" i="1" smtClean="0">
                            <a:solidFill>
                              <a:schemeClr val="tx1"/>
                            </a:solidFill>
                            <a:effectLst>
                              <a:outerShdw blurRad="38100" dist="38100" dir="2700000" algn="tl">
                                <a:srgbClr val="000000">
                                  <a:alpha val="43137"/>
                                </a:srgbClr>
                              </a:outerShdw>
                            </a:effectLst>
                            <a:latin typeface="Cambria Math" panose="02040503050406030204" pitchFamily="18" charset="0"/>
                          </a:rPr>
                          <m:t>h𝑢𝑠𝑘𝑖𝑛𝑔</m:t>
                        </m:r>
                      </m:den>
                    </m:f>
                  </m:oMath>
                </a14:m>
                <a:endParaRPr lang="en-US" sz="2200" dirty="0">
                  <a:solidFill>
                    <a:schemeClr val="bg1"/>
                  </a:solidFill>
                </a:endParaRPr>
              </a:p>
            </p:txBody>
          </p:sp>
        </mc:Choice>
        <mc:Fallback xmlns="">
          <p:sp>
            <p:nvSpPr>
              <p:cNvPr id="39" name="TextBox 38">
                <a:extLst>
                  <a:ext uri="{FF2B5EF4-FFF2-40B4-BE49-F238E27FC236}">
                    <a16:creationId xmlns:a16="http://schemas.microsoft.com/office/drawing/2014/main" id="{D5E30ABE-42FE-4DBE-9837-917E3ACC9E49}"/>
                  </a:ext>
                </a:extLst>
              </p:cNvPr>
              <p:cNvSpPr txBox="1">
                <a:spLocks noRot="1" noChangeAspect="1" noMove="1" noResize="1" noEditPoints="1" noAdjustHandles="1" noChangeArrowheads="1" noChangeShapeType="1" noTextEdit="1"/>
              </p:cNvSpPr>
              <p:nvPr/>
            </p:nvSpPr>
            <p:spPr>
              <a:xfrm>
                <a:off x="3042709" y="6046024"/>
                <a:ext cx="5699662" cy="618631"/>
              </a:xfrm>
              <a:prstGeom prst="rect">
                <a:avLst/>
              </a:prstGeom>
              <a:blipFill>
                <a:blip r:embed="rId7"/>
                <a:stretch>
                  <a:fillRect l="-1497" b="-7921"/>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80929345-44D2-4C64-A20F-5125499B96DE}"/>
              </a:ext>
            </a:extLst>
          </p:cNvPr>
          <p:cNvSpPr/>
          <p:nvPr/>
        </p:nvSpPr>
        <p:spPr>
          <a:xfrm>
            <a:off x="5733513" y="29649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42" name="Rectangle 41">
            <a:extLst>
              <a:ext uri="{FF2B5EF4-FFF2-40B4-BE49-F238E27FC236}">
                <a16:creationId xmlns:a16="http://schemas.microsoft.com/office/drawing/2014/main" id="{1006E461-0FB7-4BD2-8372-6CB248A0845D}"/>
              </a:ext>
            </a:extLst>
          </p:cNvPr>
          <p:cNvSpPr/>
          <p:nvPr/>
        </p:nvSpPr>
        <p:spPr>
          <a:xfrm>
            <a:off x="5733513" y="29649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43" name="Rectangle 42">
            <a:extLst>
              <a:ext uri="{FF2B5EF4-FFF2-40B4-BE49-F238E27FC236}">
                <a16:creationId xmlns:a16="http://schemas.microsoft.com/office/drawing/2014/main" id="{5020421D-E8F3-4EB9-9640-2675FDB98043}"/>
              </a:ext>
            </a:extLst>
          </p:cNvPr>
          <p:cNvSpPr/>
          <p:nvPr/>
        </p:nvSpPr>
        <p:spPr>
          <a:xfrm>
            <a:off x="5733513" y="2964934"/>
            <a:ext cx="300082" cy="369332"/>
          </a:xfrm>
          <a:prstGeom prst="rect">
            <a:avLst/>
          </a:prstGeom>
        </p:spPr>
        <p:txBody>
          <a:bodyPr wrap="none">
            <a:spAutoFit/>
          </a:bodyPr>
          <a:lstStyle/>
          <a:p>
            <a:r>
              <a:rPr lang="en-US" dirty="0">
                <a:solidFill>
                  <a:srgbClr val="000000"/>
                </a:solidFill>
                <a:latin typeface="Times New Roman" panose="02020603050405020304" pitchFamily="18" charset="0"/>
              </a:rPr>
              <a:t> </a:t>
            </a:r>
            <a:r>
              <a:rPr lang="en-US" dirty="0"/>
              <a:t> </a:t>
            </a:r>
          </a:p>
        </p:txBody>
      </p:sp>
    </p:spTree>
    <p:extLst>
      <p:ext uri="{BB962C8B-B14F-4D97-AF65-F5344CB8AC3E}">
        <p14:creationId xmlns:p14="http://schemas.microsoft.com/office/powerpoint/2010/main" val="363107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EB567B5-AFDF-4F67-9926-4B93DDD8FF11}"/>
              </a:ext>
            </a:extLst>
          </p:cNvPr>
          <p:cNvSpPr>
            <a:spLocks noGrp="1"/>
          </p:cNvSpPr>
          <p:nvPr>
            <p:ph type="subTitle" idx="13"/>
          </p:nvPr>
        </p:nvSpPr>
        <p:spPr>
          <a:xfrm>
            <a:off x="1050720" y="1248600"/>
            <a:ext cx="8153716" cy="252000"/>
          </a:xfrm>
        </p:spPr>
        <p:txBody>
          <a:bodyPr>
            <a:normAutofit fontScale="85000" lnSpcReduction="20000"/>
          </a:bodyPr>
          <a:lstStyle/>
          <a:p>
            <a:r>
              <a:rPr lang="en-US" dirty="0">
                <a:cs typeface="Calibri"/>
              </a:rPr>
              <a:t> Improving product performance and focusing on operational efficiency </a:t>
            </a:r>
            <a:endParaRPr lang="en-US" dirty="0">
              <a:ea typeface="+mn-lt"/>
              <a:cs typeface="+mn-lt"/>
            </a:endParaRPr>
          </a:p>
          <a:p>
            <a:endParaRPr lang="en-US" dirty="0">
              <a:ea typeface="+mn-lt"/>
              <a:cs typeface="+mn-lt"/>
            </a:endParaRPr>
          </a:p>
          <a:p>
            <a:endParaRPr lang="en-US" dirty="0">
              <a:cs typeface="Calibri"/>
            </a:endParaRPr>
          </a:p>
        </p:txBody>
      </p:sp>
      <p:sp>
        <p:nvSpPr>
          <p:cNvPr id="3" name="Title 2">
            <a:extLst>
              <a:ext uri="{FF2B5EF4-FFF2-40B4-BE49-F238E27FC236}">
                <a16:creationId xmlns:a16="http://schemas.microsoft.com/office/drawing/2014/main" id="{DDF07F9B-89A1-4D35-9DF2-891637E2A08D}"/>
              </a:ext>
            </a:extLst>
          </p:cNvPr>
          <p:cNvSpPr>
            <a:spLocks noGrp="1"/>
          </p:cNvSpPr>
          <p:nvPr>
            <p:ph type="title"/>
          </p:nvPr>
        </p:nvSpPr>
        <p:spPr>
          <a:xfrm>
            <a:off x="980090" y="261792"/>
            <a:ext cx="9609851" cy="864000"/>
          </a:xfrm>
        </p:spPr>
        <p:txBody>
          <a:bodyPr>
            <a:normAutofit fontScale="90000"/>
          </a:bodyPr>
          <a:lstStyle/>
          <a:p>
            <a:r>
              <a:rPr lang="en-US" dirty="0">
                <a:cs typeface="Calibri Light"/>
              </a:rPr>
              <a:t>High throughput phenotyping transform our pipeline</a:t>
            </a:r>
            <a:endParaRPr lang="en-US" dirty="0"/>
          </a:p>
        </p:txBody>
      </p:sp>
      <p:sp>
        <p:nvSpPr>
          <p:cNvPr id="16" name="TextBox 15">
            <a:extLst>
              <a:ext uri="{FF2B5EF4-FFF2-40B4-BE49-F238E27FC236}">
                <a16:creationId xmlns:a16="http://schemas.microsoft.com/office/drawing/2014/main" id="{B168E57D-81FA-46D7-82B9-A36ABE1D6443}"/>
              </a:ext>
            </a:extLst>
          </p:cNvPr>
          <p:cNvSpPr txBox="1"/>
          <p:nvPr/>
        </p:nvSpPr>
        <p:spPr>
          <a:xfrm>
            <a:off x="916170" y="1673134"/>
            <a:ext cx="40044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dirty="0"/>
              <a:t>Solutions:</a:t>
            </a:r>
            <a:endParaRPr lang="en-US" dirty="0"/>
          </a:p>
        </p:txBody>
      </p:sp>
      <p:pic>
        <p:nvPicPr>
          <p:cNvPr id="3074" name="Picture 2">
            <a:extLst>
              <a:ext uri="{FF2B5EF4-FFF2-40B4-BE49-F238E27FC236}">
                <a16:creationId xmlns:a16="http://schemas.microsoft.com/office/drawing/2014/main" id="{C0C2C2D1-CD9C-4BE2-8D99-BF2BCF7387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89862" y="1374600"/>
            <a:ext cx="3685558" cy="491407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95049AC-3CC1-478A-AF43-20FD8163F550}"/>
              </a:ext>
            </a:extLst>
          </p:cNvPr>
          <p:cNvSpPr/>
          <p:nvPr/>
        </p:nvSpPr>
        <p:spPr>
          <a:xfrm>
            <a:off x="2744634" y="2913999"/>
            <a:ext cx="1958912" cy="1477328"/>
          </a:xfrm>
          <a:prstGeom prst="rect">
            <a:avLst/>
          </a:prstGeom>
        </p:spPr>
        <p:txBody>
          <a:bodyPr wrap="square">
            <a:spAutoFit/>
          </a:bodyPr>
          <a:lstStyle/>
          <a:p>
            <a:r>
              <a:rPr lang="en-US" dirty="0">
                <a:solidFill>
                  <a:srgbClr val="00B050"/>
                </a:solidFill>
                <a:latin typeface="Calibri" panose="020F0502020204030204" pitchFamily="34" charset="0"/>
              </a:rPr>
              <a:t>Converting labor-intensive phenotyping to low-cost image-based phenotyping</a:t>
            </a:r>
            <a:endParaRPr lang="en-US" dirty="0"/>
          </a:p>
        </p:txBody>
      </p:sp>
      <p:sp>
        <p:nvSpPr>
          <p:cNvPr id="10" name="Rectangle 9">
            <a:extLst>
              <a:ext uri="{FF2B5EF4-FFF2-40B4-BE49-F238E27FC236}">
                <a16:creationId xmlns:a16="http://schemas.microsoft.com/office/drawing/2014/main" id="{05B08B3B-D18F-49DE-A55E-6C3071ED70B4}"/>
              </a:ext>
            </a:extLst>
          </p:cNvPr>
          <p:cNvSpPr/>
          <p:nvPr/>
        </p:nvSpPr>
        <p:spPr>
          <a:xfrm>
            <a:off x="5974813" y="3244334"/>
            <a:ext cx="300082" cy="369332"/>
          </a:xfrm>
          <a:prstGeom prst="rect">
            <a:avLst/>
          </a:prstGeom>
        </p:spPr>
        <p:txBody>
          <a:bodyPr wrap="none">
            <a:spAutoFit/>
          </a:bodyPr>
          <a:lstStyle/>
          <a:p>
            <a:r>
              <a:rPr lang="en-US" dirty="0">
                <a:solidFill>
                  <a:srgbClr val="000000"/>
                </a:solidFill>
                <a:latin typeface="Times New Roman" panose="02020603050405020304" pitchFamily="18" charset="0"/>
              </a:rPr>
              <a:t> </a:t>
            </a:r>
            <a:r>
              <a:rPr lang="en-US" dirty="0"/>
              <a:t> </a:t>
            </a:r>
          </a:p>
        </p:txBody>
      </p:sp>
      <p:sp>
        <p:nvSpPr>
          <p:cNvPr id="11" name="Rectangle 10">
            <a:extLst>
              <a:ext uri="{FF2B5EF4-FFF2-40B4-BE49-F238E27FC236}">
                <a16:creationId xmlns:a16="http://schemas.microsoft.com/office/drawing/2014/main" id="{2E6E2103-34D7-47F1-B438-5427924F6D26}"/>
              </a:ext>
            </a:extLst>
          </p:cNvPr>
          <p:cNvSpPr/>
          <p:nvPr/>
        </p:nvSpPr>
        <p:spPr>
          <a:xfrm>
            <a:off x="5974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12" name="Rectangle 11">
            <a:extLst>
              <a:ext uri="{FF2B5EF4-FFF2-40B4-BE49-F238E27FC236}">
                <a16:creationId xmlns:a16="http://schemas.microsoft.com/office/drawing/2014/main" id="{20803554-5C05-4EF3-8E7F-4C53AD862335}"/>
              </a:ext>
            </a:extLst>
          </p:cNvPr>
          <p:cNvSpPr/>
          <p:nvPr/>
        </p:nvSpPr>
        <p:spPr>
          <a:xfrm>
            <a:off x="4051300" y="2694498"/>
            <a:ext cx="2165887" cy="369332"/>
          </a:xfrm>
          <a:prstGeom prst="rect">
            <a:avLst/>
          </a:prstGeom>
        </p:spPr>
        <p:txBody>
          <a:bodyPr wrap="square">
            <a:spAutoFit/>
          </a:bodyPr>
          <a:lstStyle/>
          <a:p>
            <a:r>
              <a:rPr lang="en-US" dirty="0">
                <a:solidFill>
                  <a:srgbClr val="000000"/>
                </a:solidFill>
                <a:latin typeface="Times New Roman" panose="02020603050405020304" pitchFamily="18" charset="0"/>
              </a:rPr>
              <a:t> </a:t>
            </a:r>
            <a:endParaRPr lang="en-US" dirty="0"/>
          </a:p>
        </p:txBody>
      </p:sp>
      <p:sp>
        <p:nvSpPr>
          <p:cNvPr id="18" name="Rectangle 17">
            <a:extLst>
              <a:ext uri="{FF2B5EF4-FFF2-40B4-BE49-F238E27FC236}">
                <a16:creationId xmlns:a16="http://schemas.microsoft.com/office/drawing/2014/main" id="{72A38ABB-BABD-46EE-A097-65F435310AD9}"/>
              </a:ext>
            </a:extLst>
          </p:cNvPr>
          <p:cNvSpPr/>
          <p:nvPr/>
        </p:nvSpPr>
        <p:spPr>
          <a:xfrm>
            <a:off x="5974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19" name="Rectangle 18">
            <a:extLst>
              <a:ext uri="{FF2B5EF4-FFF2-40B4-BE49-F238E27FC236}">
                <a16:creationId xmlns:a16="http://schemas.microsoft.com/office/drawing/2014/main" id="{568CE6F6-D865-4FA2-92E4-C6508B7E5B05}"/>
              </a:ext>
            </a:extLst>
          </p:cNvPr>
          <p:cNvSpPr/>
          <p:nvPr/>
        </p:nvSpPr>
        <p:spPr>
          <a:xfrm>
            <a:off x="5974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20" name="Rectangle 19">
            <a:extLst>
              <a:ext uri="{FF2B5EF4-FFF2-40B4-BE49-F238E27FC236}">
                <a16:creationId xmlns:a16="http://schemas.microsoft.com/office/drawing/2014/main" id="{6B2D08EB-AACF-4098-8FAF-248AD1B3E931}"/>
              </a:ext>
            </a:extLst>
          </p:cNvPr>
          <p:cNvSpPr/>
          <p:nvPr/>
        </p:nvSpPr>
        <p:spPr>
          <a:xfrm>
            <a:off x="451080" y="2912448"/>
            <a:ext cx="2121371" cy="923330"/>
          </a:xfrm>
          <a:prstGeom prst="rect">
            <a:avLst/>
          </a:prstGeom>
        </p:spPr>
        <p:txBody>
          <a:bodyPr wrap="square">
            <a:spAutoFit/>
          </a:bodyPr>
          <a:lstStyle/>
          <a:p>
            <a:r>
              <a:rPr lang="en-US" dirty="0">
                <a:solidFill>
                  <a:srgbClr val="00B050"/>
                </a:solidFill>
                <a:latin typeface="Calibri" panose="020F0502020204030204" pitchFamily="34" charset="0"/>
              </a:rPr>
              <a:t>Characterize a key trait that represent percent recovery</a:t>
            </a:r>
            <a:endParaRPr lang="en-US" dirty="0">
              <a:solidFill>
                <a:srgbClr val="00B050"/>
              </a:solidFill>
            </a:endParaRPr>
          </a:p>
        </p:txBody>
      </p:sp>
      <p:sp>
        <p:nvSpPr>
          <p:cNvPr id="21" name="Arrow: Striped Right 20">
            <a:extLst>
              <a:ext uri="{FF2B5EF4-FFF2-40B4-BE49-F238E27FC236}">
                <a16:creationId xmlns:a16="http://schemas.microsoft.com/office/drawing/2014/main" id="{64CFFD27-810B-4FA9-990F-7EBD0D3346E7}"/>
              </a:ext>
            </a:extLst>
          </p:cNvPr>
          <p:cNvSpPr/>
          <p:nvPr/>
        </p:nvSpPr>
        <p:spPr>
          <a:xfrm>
            <a:off x="2356443" y="3110587"/>
            <a:ext cx="388191" cy="288473"/>
          </a:xfrm>
          <a:prstGeom prst="stripedRightArrow">
            <a:avLst/>
          </a:prstGeom>
          <a:solidFill>
            <a:schemeClr val="accent6">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F83C901-902E-45F2-B91D-E202F98DC6E6}"/>
              </a:ext>
            </a:extLst>
          </p:cNvPr>
          <p:cNvSpPr/>
          <p:nvPr/>
        </p:nvSpPr>
        <p:spPr>
          <a:xfrm>
            <a:off x="4932278" y="2931905"/>
            <a:ext cx="1829580" cy="1200329"/>
          </a:xfrm>
          <a:prstGeom prst="rect">
            <a:avLst/>
          </a:prstGeom>
        </p:spPr>
        <p:txBody>
          <a:bodyPr wrap="square">
            <a:spAutoFit/>
          </a:bodyPr>
          <a:lstStyle/>
          <a:p>
            <a:r>
              <a:rPr lang="en-US" dirty="0">
                <a:solidFill>
                  <a:srgbClr val="00B050"/>
                </a:solidFill>
                <a:latin typeface="Calibri" panose="020F0502020204030204" pitchFamily="34" charset="0"/>
              </a:rPr>
              <a:t>Enable selection for percent recovery early in the pipeline</a:t>
            </a:r>
            <a:endParaRPr lang="en-US" dirty="0"/>
          </a:p>
        </p:txBody>
      </p:sp>
      <p:sp>
        <p:nvSpPr>
          <p:cNvPr id="27" name="Arrow: Striped Right 26">
            <a:extLst>
              <a:ext uri="{FF2B5EF4-FFF2-40B4-BE49-F238E27FC236}">
                <a16:creationId xmlns:a16="http://schemas.microsoft.com/office/drawing/2014/main" id="{547EB6DE-D6C9-4F10-BFF1-CE87A3CC2C3F}"/>
              </a:ext>
            </a:extLst>
          </p:cNvPr>
          <p:cNvSpPr/>
          <p:nvPr/>
        </p:nvSpPr>
        <p:spPr>
          <a:xfrm>
            <a:off x="4532420" y="3128975"/>
            <a:ext cx="388191" cy="307379"/>
          </a:xfrm>
          <a:prstGeom prst="stripedRightArrow">
            <a:avLst>
              <a:gd name="adj1" fmla="val 43124"/>
              <a:gd name="adj2" fmla="val 50000"/>
            </a:avLst>
          </a:prstGeom>
          <a:solidFill>
            <a:schemeClr val="accent6">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6E16C95-AB3B-4639-8228-12FAD06F5003}"/>
              </a:ext>
            </a:extLst>
          </p:cNvPr>
          <p:cNvSpPr/>
          <p:nvPr/>
        </p:nvSpPr>
        <p:spPr>
          <a:xfrm>
            <a:off x="7208595" y="2908308"/>
            <a:ext cx="1624468" cy="923330"/>
          </a:xfrm>
          <a:prstGeom prst="rect">
            <a:avLst/>
          </a:prstGeom>
        </p:spPr>
        <p:txBody>
          <a:bodyPr wrap="square">
            <a:spAutoFit/>
          </a:bodyPr>
          <a:lstStyle/>
          <a:p>
            <a:r>
              <a:rPr lang="en-US" dirty="0">
                <a:solidFill>
                  <a:srgbClr val="00B050"/>
                </a:solidFill>
                <a:latin typeface="Calibri" panose="020F0502020204030204" pitchFamily="34" charset="0"/>
              </a:rPr>
              <a:t>Better seeds with every generation</a:t>
            </a:r>
            <a:endParaRPr lang="en-US" dirty="0"/>
          </a:p>
        </p:txBody>
      </p:sp>
      <p:sp>
        <p:nvSpPr>
          <p:cNvPr id="29" name="Arrow: Striped Right 28">
            <a:extLst>
              <a:ext uri="{FF2B5EF4-FFF2-40B4-BE49-F238E27FC236}">
                <a16:creationId xmlns:a16="http://schemas.microsoft.com/office/drawing/2014/main" id="{C7C3BF74-25DC-4824-B528-5B28D1661198}"/>
              </a:ext>
            </a:extLst>
          </p:cNvPr>
          <p:cNvSpPr/>
          <p:nvPr/>
        </p:nvSpPr>
        <p:spPr>
          <a:xfrm>
            <a:off x="6572503" y="3024523"/>
            <a:ext cx="646333" cy="371673"/>
          </a:xfrm>
          <a:prstGeom prst="stripedRightArrow">
            <a:avLst>
              <a:gd name="adj1" fmla="val 43124"/>
              <a:gd name="adj2" fmla="val 50000"/>
            </a:avLst>
          </a:prstGeom>
          <a:solidFill>
            <a:schemeClr val="accent6">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9">
            <a:extLst>
              <a:ext uri="{FF2B5EF4-FFF2-40B4-BE49-F238E27FC236}">
                <a16:creationId xmlns:a16="http://schemas.microsoft.com/office/drawing/2014/main" id="{F5D13372-ED0A-4890-8820-5787369BB5B5}"/>
              </a:ext>
            </a:extLst>
          </p:cNvPr>
          <p:cNvSpPr>
            <a:spLocks noEditPoints="1"/>
          </p:cNvSpPr>
          <p:nvPr/>
        </p:nvSpPr>
        <p:spPr bwMode="auto">
          <a:xfrm>
            <a:off x="992947" y="2097164"/>
            <a:ext cx="715402" cy="750949"/>
          </a:xfrm>
          <a:custGeom>
            <a:avLst/>
            <a:gdLst>
              <a:gd name="T0" fmla="*/ 319 w 408"/>
              <a:gd name="T1" fmla="*/ 205 h 428"/>
              <a:gd name="T2" fmla="*/ 277 w 408"/>
              <a:gd name="T3" fmla="*/ 324 h 428"/>
              <a:gd name="T4" fmla="*/ 262 w 408"/>
              <a:gd name="T5" fmla="*/ 385 h 428"/>
              <a:gd name="T6" fmla="*/ 229 w 408"/>
              <a:gd name="T7" fmla="*/ 409 h 428"/>
              <a:gd name="T8" fmla="*/ 183 w 408"/>
              <a:gd name="T9" fmla="*/ 428 h 428"/>
              <a:gd name="T10" fmla="*/ 170 w 408"/>
              <a:gd name="T11" fmla="*/ 409 h 428"/>
              <a:gd name="T12" fmla="*/ 153 w 408"/>
              <a:gd name="T13" fmla="*/ 402 h 428"/>
              <a:gd name="T14" fmla="*/ 146 w 408"/>
              <a:gd name="T15" fmla="*/ 375 h 428"/>
              <a:gd name="T16" fmla="*/ 138 w 408"/>
              <a:gd name="T17" fmla="*/ 341 h 428"/>
              <a:gd name="T18" fmla="*/ 131 w 408"/>
              <a:gd name="T19" fmla="*/ 324 h 428"/>
              <a:gd name="T20" fmla="*/ 89 w 408"/>
              <a:gd name="T21" fmla="*/ 205 h 428"/>
              <a:gd name="T22" fmla="*/ 98 w 408"/>
              <a:gd name="T23" fmla="*/ 93 h 428"/>
              <a:gd name="T24" fmla="*/ 60 w 408"/>
              <a:gd name="T25" fmla="*/ 66 h 428"/>
              <a:gd name="T26" fmla="*/ 98 w 408"/>
              <a:gd name="T27" fmla="*/ 93 h 428"/>
              <a:gd name="T28" fmla="*/ 348 w 408"/>
              <a:gd name="T29" fmla="*/ 60 h 428"/>
              <a:gd name="T30" fmla="*/ 310 w 408"/>
              <a:gd name="T31" fmla="*/ 98 h 428"/>
              <a:gd name="T32" fmla="*/ 54 w 408"/>
              <a:gd name="T33" fmla="*/ 205 h 428"/>
              <a:gd name="T34" fmla="*/ 0 w 408"/>
              <a:gd name="T35" fmla="*/ 205 h 428"/>
              <a:gd name="T36" fmla="*/ 358 w 408"/>
              <a:gd name="T37" fmla="*/ 209 h 428"/>
              <a:gd name="T38" fmla="*/ 404 w 408"/>
              <a:gd name="T39" fmla="*/ 201 h 428"/>
              <a:gd name="T40" fmla="*/ 358 w 408"/>
              <a:gd name="T41" fmla="*/ 209 h 428"/>
              <a:gd name="T42" fmla="*/ 200 w 408"/>
              <a:gd name="T43" fmla="*/ 50 h 428"/>
              <a:gd name="T44" fmla="*/ 208 w 408"/>
              <a:gd name="T45" fmla="*/ 4 h 428"/>
              <a:gd name="T46" fmla="*/ 254 w 408"/>
              <a:gd name="T47" fmla="*/ 371 h 428"/>
              <a:gd name="T48" fmla="*/ 239 w 408"/>
              <a:gd name="T49" fmla="*/ 348 h 428"/>
              <a:gd name="T50" fmla="*/ 154 w 408"/>
              <a:gd name="T51" fmla="*/ 348 h 428"/>
              <a:gd name="T52" fmla="*/ 154 w 408"/>
              <a:gd name="T53" fmla="*/ 379 h 428"/>
              <a:gd name="T54" fmla="*/ 159 w 408"/>
              <a:gd name="T55" fmla="*/ 397 h 428"/>
              <a:gd name="T56" fmla="*/ 225 w 408"/>
              <a:gd name="T57" fmla="*/ 401 h 428"/>
              <a:gd name="T58" fmla="*/ 254 w 408"/>
              <a:gd name="T59" fmla="*/ 385 h 428"/>
              <a:gd name="T60" fmla="*/ 235 w 408"/>
              <a:gd name="T61" fmla="*/ 249 h 428"/>
              <a:gd name="T62" fmla="*/ 208 w 408"/>
              <a:gd name="T63" fmla="*/ 249 h 428"/>
              <a:gd name="T64" fmla="*/ 200 w 408"/>
              <a:gd name="T65" fmla="*/ 228 h 428"/>
              <a:gd name="T66" fmla="*/ 173 w 408"/>
              <a:gd name="T67" fmla="*/ 249 h 428"/>
              <a:gd name="T68" fmla="*/ 235 w 408"/>
              <a:gd name="T69" fmla="*/ 249 h 428"/>
              <a:gd name="T70" fmla="*/ 239 w 408"/>
              <a:gd name="T71" fmla="*/ 196 h 428"/>
              <a:gd name="T72" fmla="*/ 243 w 408"/>
              <a:gd name="T73" fmla="*/ 224 h 428"/>
              <a:gd name="T74" fmla="*/ 264 w 408"/>
              <a:gd name="T75" fmla="*/ 335 h 428"/>
              <a:gd name="T76" fmla="*/ 269 w 408"/>
              <a:gd name="T77" fmla="*/ 291 h 428"/>
              <a:gd name="T78" fmla="*/ 311 w 408"/>
              <a:gd name="T79" fmla="*/ 205 h 428"/>
              <a:gd name="T80" fmla="*/ 129 w 408"/>
              <a:gd name="T81" fmla="*/ 129 h 428"/>
              <a:gd name="T82" fmla="*/ 137 w 408"/>
              <a:gd name="T83" fmla="*/ 288 h 428"/>
              <a:gd name="T84" fmla="*/ 144 w 408"/>
              <a:gd name="T85" fmla="*/ 335 h 428"/>
              <a:gd name="T86" fmla="*/ 165 w 408"/>
              <a:gd name="T87" fmla="*/ 340 h 428"/>
              <a:gd name="T88" fmla="*/ 165 w 408"/>
              <a:gd name="T89" fmla="*/ 200 h 428"/>
              <a:gd name="T90" fmla="*/ 173 w 408"/>
              <a:gd name="T91" fmla="*/ 220 h 428"/>
              <a:gd name="T92" fmla="*/ 204 w 408"/>
              <a:gd name="T93" fmla="*/ 196 h 428"/>
              <a:gd name="T94" fmla="*/ 235 w 408"/>
              <a:gd name="T95" fmla="*/ 220 h 428"/>
              <a:gd name="T96" fmla="*/ 187 w 408"/>
              <a:gd name="T97" fmla="*/ 4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8" h="428">
                <a:moveTo>
                  <a:pt x="204" y="90"/>
                </a:moveTo>
                <a:cubicBezTo>
                  <a:pt x="236" y="90"/>
                  <a:pt x="264" y="103"/>
                  <a:pt x="285" y="124"/>
                </a:cubicBezTo>
                <a:cubicBezTo>
                  <a:pt x="306" y="144"/>
                  <a:pt x="319" y="173"/>
                  <a:pt x="319" y="205"/>
                </a:cubicBezTo>
                <a:cubicBezTo>
                  <a:pt x="319" y="222"/>
                  <a:pt x="315" y="239"/>
                  <a:pt x="307" y="254"/>
                </a:cubicBezTo>
                <a:cubicBezTo>
                  <a:pt x="300" y="269"/>
                  <a:pt x="290" y="283"/>
                  <a:pt x="277" y="293"/>
                </a:cubicBezTo>
                <a:cubicBezTo>
                  <a:pt x="277" y="324"/>
                  <a:pt x="277" y="324"/>
                  <a:pt x="277" y="324"/>
                </a:cubicBezTo>
                <a:cubicBezTo>
                  <a:pt x="277" y="331"/>
                  <a:pt x="274" y="337"/>
                  <a:pt x="270" y="341"/>
                </a:cubicBezTo>
                <a:cubicBezTo>
                  <a:pt x="268" y="343"/>
                  <a:pt x="265" y="345"/>
                  <a:pt x="262" y="346"/>
                </a:cubicBezTo>
                <a:cubicBezTo>
                  <a:pt x="262" y="385"/>
                  <a:pt x="262" y="385"/>
                  <a:pt x="262" y="385"/>
                </a:cubicBezTo>
                <a:cubicBezTo>
                  <a:pt x="262" y="392"/>
                  <a:pt x="259" y="398"/>
                  <a:pt x="255" y="402"/>
                </a:cubicBezTo>
                <a:cubicBezTo>
                  <a:pt x="251" y="406"/>
                  <a:pt x="245" y="409"/>
                  <a:pt x="238" y="409"/>
                </a:cubicBezTo>
                <a:cubicBezTo>
                  <a:pt x="229" y="409"/>
                  <a:pt x="229" y="409"/>
                  <a:pt x="229" y="409"/>
                </a:cubicBezTo>
                <a:cubicBezTo>
                  <a:pt x="229" y="424"/>
                  <a:pt x="229" y="424"/>
                  <a:pt x="229" y="424"/>
                </a:cubicBezTo>
                <a:cubicBezTo>
                  <a:pt x="229" y="426"/>
                  <a:pt x="227" y="428"/>
                  <a:pt x="225" y="428"/>
                </a:cubicBezTo>
                <a:cubicBezTo>
                  <a:pt x="183" y="428"/>
                  <a:pt x="183" y="428"/>
                  <a:pt x="183" y="428"/>
                </a:cubicBezTo>
                <a:cubicBezTo>
                  <a:pt x="181" y="428"/>
                  <a:pt x="179" y="426"/>
                  <a:pt x="179" y="424"/>
                </a:cubicBezTo>
                <a:cubicBezTo>
                  <a:pt x="179" y="409"/>
                  <a:pt x="179" y="409"/>
                  <a:pt x="179" y="409"/>
                </a:cubicBezTo>
                <a:cubicBezTo>
                  <a:pt x="170" y="409"/>
                  <a:pt x="170" y="409"/>
                  <a:pt x="170" y="409"/>
                </a:cubicBezTo>
                <a:cubicBezTo>
                  <a:pt x="163" y="409"/>
                  <a:pt x="157" y="406"/>
                  <a:pt x="153" y="402"/>
                </a:cubicBezTo>
                <a:cubicBezTo>
                  <a:pt x="153" y="402"/>
                  <a:pt x="153" y="402"/>
                  <a:pt x="153" y="402"/>
                </a:cubicBezTo>
                <a:cubicBezTo>
                  <a:pt x="153" y="402"/>
                  <a:pt x="153" y="402"/>
                  <a:pt x="153" y="402"/>
                </a:cubicBezTo>
                <a:cubicBezTo>
                  <a:pt x="153" y="402"/>
                  <a:pt x="153" y="402"/>
                  <a:pt x="153" y="402"/>
                </a:cubicBezTo>
                <a:cubicBezTo>
                  <a:pt x="149" y="398"/>
                  <a:pt x="146" y="392"/>
                  <a:pt x="146" y="385"/>
                </a:cubicBezTo>
                <a:cubicBezTo>
                  <a:pt x="146" y="375"/>
                  <a:pt x="146" y="375"/>
                  <a:pt x="146" y="375"/>
                </a:cubicBezTo>
                <a:cubicBezTo>
                  <a:pt x="146" y="346"/>
                  <a:pt x="146" y="346"/>
                  <a:pt x="146" y="346"/>
                </a:cubicBezTo>
                <a:cubicBezTo>
                  <a:pt x="143" y="345"/>
                  <a:pt x="140" y="343"/>
                  <a:pt x="138" y="341"/>
                </a:cubicBezTo>
                <a:cubicBezTo>
                  <a:pt x="138" y="341"/>
                  <a:pt x="138" y="341"/>
                  <a:pt x="138" y="341"/>
                </a:cubicBezTo>
                <a:cubicBezTo>
                  <a:pt x="138" y="341"/>
                  <a:pt x="138" y="341"/>
                  <a:pt x="138" y="341"/>
                </a:cubicBezTo>
                <a:cubicBezTo>
                  <a:pt x="138" y="341"/>
                  <a:pt x="138" y="341"/>
                  <a:pt x="138" y="341"/>
                </a:cubicBezTo>
                <a:cubicBezTo>
                  <a:pt x="134" y="337"/>
                  <a:pt x="131" y="331"/>
                  <a:pt x="131" y="324"/>
                </a:cubicBezTo>
                <a:cubicBezTo>
                  <a:pt x="131" y="293"/>
                  <a:pt x="131" y="293"/>
                  <a:pt x="131" y="293"/>
                </a:cubicBezTo>
                <a:cubicBezTo>
                  <a:pt x="118" y="283"/>
                  <a:pt x="108" y="269"/>
                  <a:pt x="101" y="254"/>
                </a:cubicBezTo>
                <a:cubicBezTo>
                  <a:pt x="93" y="239"/>
                  <a:pt x="89" y="222"/>
                  <a:pt x="89" y="205"/>
                </a:cubicBezTo>
                <a:cubicBezTo>
                  <a:pt x="89" y="173"/>
                  <a:pt x="102" y="144"/>
                  <a:pt x="123" y="124"/>
                </a:cubicBezTo>
                <a:cubicBezTo>
                  <a:pt x="144" y="103"/>
                  <a:pt x="172" y="90"/>
                  <a:pt x="204" y="90"/>
                </a:cubicBezTo>
                <a:close/>
                <a:moveTo>
                  <a:pt x="98" y="93"/>
                </a:moveTo>
                <a:cubicBezTo>
                  <a:pt x="65" y="60"/>
                  <a:pt x="65" y="60"/>
                  <a:pt x="65" y="60"/>
                </a:cubicBezTo>
                <a:cubicBezTo>
                  <a:pt x="64" y="59"/>
                  <a:pt x="61" y="59"/>
                  <a:pt x="60" y="60"/>
                </a:cubicBezTo>
                <a:cubicBezTo>
                  <a:pt x="58" y="62"/>
                  <a:pt x="58" y="64"/>
                  <a:pt x="60" y="66"/>
                </a:cubicBezTo>
                <a:cubicBezTo>
                  <a:pt x="92" y="98"/>
                  <a:pt x="92" y="98"/>
                  <a:pt x="92" y="98"/>
                </a:cubicBezTo>
                <a:cubicBezTo>
                  <a:pt x="94" y="100"/>
                  <a:pt x="96" y="100"/>
                  <a:pt x="98" y="98"/>
                </a:cubicBezTo>
                <a:cubicBezTo>
                  <a:pt x="99" y="97"/>
                  <a:pt x="99" y="94"/>
                  <a:pt x="98" y="93"/>
                </a:cubicBezTo>
                <a:close/>
                <a:moveTo>
                  <a:pt x="316" y="98"/>
                </a:moveTo>
                <a:cubicBezTo>
                  <a:pt x="348" y="66"/>
                  <a:pt x="348" y="66"/>
                  <a:pt x="348" y="66"/>
                </a:cubicBezTo>
                <a:cubicBezTo>
                  <a:pt x="350" y="64"/>
                  <a:pt x="350" y="62"/>
                  <a:pt x="348" y="60"/>
                </a:cubicBezTo>
                <a:cubicBezTo>
                  <a:pt x="347" y="59"/>
                  <a:pt x="344" y="59"/>
                  <a:pt x="343" y="60"/>
                </a:cubicBezTo>
                <a:cubicBezTo>
                  <a:pt x="310" y="93"/>
                  <a:pt x="310" y="93"/>
                  <a:pt x="310" y="93"/>
                </a:cubicBezTo>
                <a:cubicBezTo>
                  <a:pt x="309" y="94"/>
                  <a:pt x="309" y="97"/>
                  <a:pt x="310" y="98"/>
                </a:cubicBezTo>
                <a:cubicBezTo>
                  <a:pt x="312" y="100"/>
                  <a:pt x="314" y="100"/>
                  <a:pt x="316" y="98"/>
                </a:cubicBezTo>
                <a:close/>
                <a:moveTo>
                  <a:pt x="50" y="201"/>
                </a:moveTo>
                <a:cubicBezTo>
                  <a:pt x="52" y="201"/>
                  <a:pt x="54" y="202"/>
                  <a:pt x="54" y="205"/>
                </a:cubicBezTo>
                <a:cubicBezTo>
                  <a:pt x="54" y="207"/>
                  <a:pt x="52" y="209"/>
                  <a:pt x="50" y="209"/>
                </a:cubicBezTo>
                <a:cubicBezTo>
                  <a:pt x="4" y="209"/>
                  <a:pt x="4" y="209"/>
                  <a:pt x="4" y="209"/>
                </a:cubicBezTo>
                <a:cubicBezTo>
                  <a:pt x="2" y="209"/>
                  <a:pt x="0" y="207"/>
                  <a:pt x="0" y="205"/>
                </a:cubicBezTo>
                <a:cubicBezTo>
                  <a:pt x="0" y="202"/>
                  <a:pt x="2" y="201"/>
                  <a:pt x="4" y="201"/>
                </a:cubicBezTo>
                <a:cubicBezTo>
                  <a:pt x="50" y="201"/>
                  <a:pt x="50" y="201"/>
                  <a:pt x="50" y="201"/>
                </a:cubicBezTo>
                <a:close/>
                <a:moveTo>
                  <a:pt x="358" y="209"/>
                </a:moveTo>
                <a:cubicBezTo>
                  <a:pt x="356" y="209"/>
                  <a:pt x="354" y="207"/>
                  <a:pt x="354" y="205"/>
                </a:cubicBezTo>
                <a:cubicBezTo>
                  <a:pt x="354" y="202"/>
                  <a:pt x="356" y="201"/>
                  <a:pt x="358" y="201"/>
                </a:cubicBezTo>
                <a:cubicBezTo>
                  <a:pt x="404" y="201"/>
                  <a:pt x="404" y="201"/>
                  <a:pt x="404" y="201"/>
                </a:cubicBezTo>
                <a:cubicBezTo>
                  <a:pt x="407" y="201"/>
                  <a:pt x="408" y="202"/>
                  <a:pt x="408" y="205"/>
                </a:cubicBezTo>
                <a:cubicBezTo>
                  <a:pt x="408" y="207"/>
                  <a:pt x="407" y="209"/>
                  <a:pt x="404" y="209"/>
                </a:cubicBezTo>
                <a:cubicBezTo>
                  <a:pt x="358" y="209"/>
                  <a:pt x="358" y="209"/>
                  <a:pt x="358" y="209"/>
                </a:cubicBezTo>
                <a:close/>
                <a:moveTo>
                  <a:pt x="208" y="50"/>
                </a:moveTo>
                <a:cubicBezTo>
                  <a:pt x="208" y="52"/>
                  <a:pt x="206" y="54"/>
                  <a:pt x="204" y="54"/>
                </a:cubicBezTo>
                <a:cubicBezTo>
                  <a:pt x="202" y="54"/>
                  <a:pt x="200" y="52"/>
                  <a:pt x="200" y="50"/>
                </a:cubicBezTo>
                <a:cubicBezTo>
                  <a:pt x="200" y="4"/>
                  <a:pt x="200" y="4"/>
                  <a:pt x="200" y="4"/>
                </a:cubicBezTo>
                <a:cubicBezTo>
                  <a:pt x="200" y="2"/>
                  <a:pt x="202" y="0"/>
                  <a:pt x="204" y="0"/>
                </a:cubicBezTo>
                <a:cubicBezTo>
                  <a:pt x="206" y="0"/>
                  <a:pt x="208" y="2"/>
                  <a:pt x="208" y="4"/>
                </a:cubicBezTo>
                <a:cubicBezTo>
                  <a:pt x="208" y="50"/>
                  <a:pt x="208" y="50"/>
                  <a:pt x="208" y="50"/>
                </a:cubicBezTo>
                <a:close/>
                <a:moveTo>
                  <a:pt x="154" y="371"/>
                </a:moveTo>
                <a:cubicBezTo>
                  <a:pt x="254" y="371"/>
                  <a:pt x="254" y="371"/>
                  <a:pt x="254" y="371"/>
                </a:cubicBezTo>
                <a:cubicBezTo>
                  <a:pt x="254" y="348"/>
                  <a:pt x="254" y="348"/>
                  <a:pt x="254" y="348"/>
                </a:cubicBezTo>
                <a:cubicBezTo>
                  <a:pt x="253" y="348"/>
                  <a:pt x="253" y="348"/>
                  <a:pt x="253" y="348"/>
                </a:cubicBezTo>
                <a:cubicBezTo>
                  <a:pt x="239" y="348"/>
                  <a:pt x="239" y="348"/>
                  <a:pt x="239" y="348"/>
                </a:cubicBezTo>
                <a:cubicBezTo>
                  <a:pt x="169" y="348"/>
                  <a:pt x="169" y="348"/>
                  <a:pt x="169" y="348"/>
                </a:cubicBezTo>
                <a:cubicBezTo>
                  <a:pt x="155" y="348"/>
                  <a:pt x="155" y="348"/>
                  <a:pt x="155" y="348"/>
                </a:cubicBezTo>
                <a:cubicBezTo>
                  <a:pt x="154" y="348"/>
                  <a:pt x="154" y="348"/>
                  <a:pt x="154" y="348"/>
                </a:cubicBezTo>
                <a:cubicBezTo>
                  <a:pt x="154" y="371"/>
                  <a:pt x="154" y="371"/>
                  <a:pt x="154" y="371"/>
                </a:cubicBezTo>
                <a:close/>
                <a:moveTo>
                  <a:pt x="254" y="379"/>
                </a:moveTo>
                <a:cubicBezTo>
                  <a:pt x="154" y="379"/>
                  <a:pt x="154" y="379"/>
                  <a:pt x="154" y="379"/>
                </a:cubicBezTo>
                <a:cubicBezTo>
                  <a:pt x="154" y="385"/>
                  <a:pt x="154" y="385"/>
                  <a:pt x="154" y="385"/>
                </a:cubicBezTo>
                <a:cubicBezTo>
                  <a:pt x="154" y="390"/>
                  <a:pt x="156" y="394"/>
                  <a:pt x="159" y="397"/>
                </a:cubicBezTo>
                <a:cubicBezTo>
                  <a:pt x="159" y="397"/>
                  <a:pt x="159" y="397"/>
                  <a:pt x="159" y="397"/>
                </a:cubicBezTo>
                <a:cubicBezTo>
                  <a:pt x="161" y="399"/>
                  <a:pt x="165" y="401"/>
                  <a:pt x="170" y="401"/>
                </a:cubicBezTo>
                <a:cubicBezTo>
                  <a:pt x="183" y="401"/>
                  <a:pt x="183" y="401"/>
                  <a:pt x="183" y="401"/>
                </a:cubicBezTo>
                <a:cubicBezTo>
                  <a:pt x="225" y="401"/>
                  <a:pt x="225" y="401"/>
                  <a:pt x="225" y="401"/>
                </a:cubicBezTo>
                <a:cubicBezTo>
                  <a:pt x="238" y="401"/>
                  <a:pt x="238" y="401"/>
                  <a:pt x="238" y="401"/>
                </a:cubicBezTo>
                <a:cubicBezTo>
                  <a:pt x="243" y="401"/>
                  <a:pt x="247" y="399"/>
                  <a:pt x="249" y="397"/>
                </a:cubicBezTo>
                <a:cubicBezTo>
                  <a:pt x="252" y="394"/>
                  <a:pt x="254" y="390"/>
                  <a:pt x="254" y="385"/>
                </a:cubicBezTo>
                <a:cubicBezTo>
                  <a:pt x="254" y="379"/>
                  <a:pt x="254" y="379"/>
                  <a:pt x="254" y="379"/>
                </a:cubicBezTo>
                <a:close/>
                <a:moveTo>
                  <a:pt x="235" y="249"/>
                </a:moveTo>
                <a:cubicBezTo>
                  <a:pt x="235" y="249"/>
                  <a:pt x="235" y="249"/>
                  <a:pt x="235" y="249"/>
                </a:cubicBezTo>
                <a:cubicBezTo>
                  <a:pt x="235" y="228"/>
                  <a:pt x="235" y="228"/>
                  <a:pt x="235" y="228"/>
                </a:cubicBezTo>
                <a:cubicBezTo>
                  <a:pt x="208" y="228"/>
                  <a:pt x="208" y="228"/>
                  <a:pt x="208" y="228"/>
                </a:cubicBezTo>
                <a:cubicBezTo>
                  <a:pt x="208" y="249"/>
                  <a:pt x="208" y="249"/>
                  <a:pt x="208" y="249"/>
                </a:cubicBezTo>
                <a:cubicBezTo>
                  <a:pt x="208" y="251"/>
                  <a:pt x="206" y="253"/>
                  <a:pt x="204" y="253"/>
                </a:cubicBezTo>
                <a:cubicBezTo>
                  <a:pt x="202" y="253"/>
                  <a:pt x="200" y="251"/>
                  <a:pt x="200" y="249"/>
                </a:cubicBezTo>
                <a:cubicBezTo>
                  <a:pt x="200" y="228"/>
                  <a:pt x="200" y="228"/>
                  <a:pt x="200" y="228"/>
                </a:cubicBezTo>
                <a:cubicBezTo>
                  <a:pt x="173" y="228"/>
                  <a:pt x="173" y="228"/>
                  <a:pt x="173" y="228"/>
                </a:cubicBezTo>
                <a:cubicBezTo>
                  <a:pt x="173" y="249"/>
                  <a:pt x="173" y="249"/>
                  <a:pt x="173" y="249"/>
                </a:cubicBezTo>
                <a:cubicBezTo>
                  <a:pt x="173" y="249"/>
                  <a:pt x="173" y="249"/>
                  <a:pt x="173" y="249"/>
                </a:cubicBezTo>
                <a:cubicBezTo>
                  <a:pt x="173" y="340"/>
                  <a:pt x="173" y="340"/>
                  <a:pt x="173" y="340"/>
                </a:cubicBezTo>
                <a:cubicBezTo>
                  <a:pt x="235" y="340"/>
                  <a:pt x="235" y="340"/>
                  <a:pt x="235" y="340"/>
                </a:cubicBezTo>
                <a:cubicBezTo>
                  <a:pt x="235" y="249"/>
                  <a:pt x="235" y="249"/>
                  <a:pt x="235" y="249"/>
                </a:cubicBezTo>
                <a:close/>
                <a:moveTo>
                  <a:pt x="235" y="220"/>
                </a:moveTo>
                <a:cubicBezTo>
                  <a:pt x="235" y="200"/>
                  <a:pt x="235" y="200"/>
                  <a:pt x="235" y="200"/>
                </a:cubicBezTo>
                <a:cubicBezTo>
                  <a:pt x="235" y="197"/>
                  <a:pt x="236" y="196"/>
                  <a:pt x="239" y="196"/>
                </a:cubicBezTo>
                <a:cubicBezTo>
                  <a:pt x="241" y="196"/>
                  <a:pt x="243" y="197"/>
                  <a:pt x="243" y="200"/>
                </a:cubicBezTo>
                <a:cubicBezTo>
                  <a:pt x="243" y="224"/>
                  <a:pt x="243" y="224"/>
                  <a:pt x="243" y="224"/>
                </a:cubicBezTo>
                <a:cubicBezTo>
                  <a:pt x="243" y="224"/>
                  <a:pt x="243" y="224"/>
                  <a:pt x="243" y="224"/>
                </a:cubicBezTo>
                <a:cubicBezTo>
                  <a:pt x="243" y="340"/>
                  <a:pt x="243" y="340"/>
                  <a:pt x="243" y="340"/>
                </a:cubicBezTo>
                <a:cubicBezTo>
                  <a:pt x="253" y="340"/>
                  <a:pt x="253" y="340"/>
                  <a:pt x="253" y="340"/>
                </a:cubicBezTo>
                <a:cubicBezTo>
                  <a:pt x="258" y="340"/>
                  <a:pt x="262" y="338"/>
                  <a:pt x="264" y="335"/>
                </a:cubicBezTo>
                <a:cubicBezTo>
                  <a:pt x="267" y="332"/>
                  <a:pt x="269" y="328"/>
                  <a:pt x="269" y="324"/>
                </a:cubicBezTo>
                <a:cubicBezTo>
                  <a:pt x="269" y="291"/>
                  <a:pt x="269" y="291"/>
                  <a:pt x="269" y="291"/>
                </a:cubicBezTo>
                <a:cubicBezTo>
                  <a:pt x="269" y="291"/>
                  <a:pt x="269" y="291"/>
                  <a:pt x="269" y="291"/>
                </a:cubicBezTo>
                <a:cubicBezTo>
                  <a:pt x="269" y="290"/>
                  <a:pt x="270" y="289"/>
                  <a:pt x="271" y="288"/>
                </a:cubicBezTo>
                <a:cubicBezTo>
                  <a:pt x="283" y="278"/>
                  <a:pt x="293" y="265"/>
                  <a:pt x="300" y="251"/>
                </a:cubicBezTo>
                <a:cubicBezTo>
                  <a:pt x="307" y="237"/>
                  <a:pt x="311" y="221"/>
                  <a:pt x="311" y="205"/>
                </a:cubicBezTo>
                <a:cubicBezTo>
                  <a:pt x="311" y="175"/>
                  <a:pt x="299" y="148"/>
                  <a:pt x="279" y="129"/>
                </a:cubicBezTo>
                <a:cubicBezTo>
                  <a:pt x="260" y="110"/>
                  <a:pt x="234" y="98"/>
                  <a:pt x="204" y="98"/>
                </a:cubicBezTo>
                <a:cubicBezTo>
                  <a:pt x="175" y="98"/>
                  <a:pt x="148" y="110"/>
                  <a:pt x="129" y="129"/>
                </a:cubicBezTo>
                <a:cubicBezTo>
                  <a:pt x="109" y="148"/>
                  <a:pt x="97" y="175"/>
                  <a:pt x="97" y="205"/>
                </a:cubicBezTo>
                <a:cubicBezTo>
                  <a:pt x="97" y="221"/>
                  <a:pt x="101" y="237"/>
                  <a:pt x="108" y="251"/>
                </a:cubicBezTo>
                <a:cubicBezTo>
                  <a:pt x="115" y="265"/>
                  <a:pt x="125" y="278"/>
                  <a:pt x="137" y="288"/>
                </a:cubicBezTo>
                <a:cubicBezTo>
                  <a:pt x="138" y="289"/>
                  <a:pt x="139" y="290"/>
                  <a:pt x="139" y="291"/>
                </a:cubicBezTo>
                <a:cubicBezTo>
                  <a:pt x="139" y="324"/>
                  <a:pt x="139" y="324"/>
                  <a:pt x="139" y="324"/>
                </a:cubicBezTo>
                <a:cubicBezTo>
                  <a:pt x="139" y="328"/>
                  <a:pt x="141" y="332"/>
                  <a:pt x="144" y="335"/>
                </a:cubicBezTo>
                <a:cubicBezTo>
                  <a:pt x="144" y="335"/>
                  <a:pt x="144" y="335"/>
                  <a:pt x="144" y="335"/>
                </a:cubicBezTo>
                <a:cubicBezTo>
                  <a:pt x="147" y="338"/>
                  <a:pt x="150" y="340"/>
                  <a:pt x="155" y="340"/>
                </a:cubicBezTo>
                <a:cubicBezTo>
                  <a:pt x="165" y="340"/>
                  <a:pt x="165" y="340"/>
                  <a:pt x="165" y="340"/>
                </a:cubicBezTo>
                <a:cubicBezTo>
                  <a:pt x="165" y="224"/>
                  <a:pt x="165" y="224"/>
                  <a:pt x="165" y="224"/>
                </a:cubicBezTo>
                <a:cubicBezTo>
                  <a:pt x="165" y="224"/>
                  <a:pt x="165" y="224"/>
                  <a:pt x="165" y="224"/>
                </a:cubicBezTo>
                <a:cubicBezTo>
                  <a:pt x="165" y="200"/>
                  <a:pt x="165" y="200"/>
                  <a:pt x="165" y="200"/>
                </a:cubicBezTo>
                <a:cubicBezTo>
                  <a:pt x="165" y="197"/>
                  <a:pt x="167" y="196"/>
                  <a:pt x="169" y="196"/>
                </a:cubicBezTo>
                <a:cubicBezTo>
                  <a:pt x="172" y="196"/>
                  <a:pt x="173" y="197"/>
                  <a:pt x="173" y="200"/>
                </a:cubicBezTo>
                <a:cubicBezTo>
                  <a:pt x="173" y="220"/>
                  <a:pt x="173" y="220"/>
                  <a:pt x="173" y="220"/>
                </a:cubicBezTo>
                <a:cubicBezTo>
                  <a:pt x="200" y="220"/>
                  <a:pt x="200" y="220"/>
                  <a:pt x="200" y="220"/>
                </a:cubicBezTo>
                <a:cubicBezTo>
                  <a:pt x="200" y="200"/>
                  <a:pt x="200" y="200"/>
                  <a:pt x="200" y="200"/>
                </a:cubicBezTo>
                <a:cubicBezTo>
                  <a:pt x="200" y="197"/>
                  <a:pt x="202" y="196"/>
                  <a:pt x="204" y="196"/>
                </a:cubicBezTo>
                <a:cubicBezTo>
                  <a:pt x="206" y="196"/>
                  <a:pt x="208" y="197"/>
                  <a:pt x="208" y="200"/>
                </a:cubicBezTo>
                <a:cubicBezTo>
                  <a:pt x="208" y="220"/>
                  <a:pt x="208" y="220"/>
                  <a:pt x="208" y="220"/>
                </a:cubicBezTo>
                <a:cubicBezTo>
                  <a:pt x="235" y="220"/>
                  <a:pt x="235" y="220"/>
                  <a:pt x="235" y="220"/>
                </a:cubicBezTo>
                <a:close/>
                <a:moveTo>
                  <a:pt x="221" y="409"/>
                </a:moveTo>
                <a:cubicBezTo>
                  <a:pt x="187" y="409"/>
                  <a:pt x="187" y="409"/>
                  <a:pt x="187" y="409"/>
                </a:cubicBezTo>
                <a:cubicBezTo>
                  <a:pt x="187" y="420"/>
                  <a:pt x="187" y="420"/>
                  <a:pt x="187" y="420"/>
                </a:cubicBezTo>
                <a:cubicBezTo>
                  <a:pt x="221" y="420"/>
                  <a:pt x="221" y="420"/>
                  <a:pt x="221" y="420"/>
                </a:cubicBezTo>
                <a:lnTo>
                  <a:pt x="221" y="409"/>
                </a:lnTo>
                <a:close/>
              </a:path>
            </a:pathLst>
          </a:custGeom>
          <a:solidFill>
            <a:schemeClr val="tx1">
              <a:lumMod val="50000"/>
              <a:lumOff val="50000"/>
            </a:schemeClr>
          </a:solidFill>
          <a:ln w="6350">
            <a:solidFill>
              <a:schemeClr val="tx1">
                <a:lumMod val="50000"/>
                <a:lumOff val="50000"/>
              </a:schemeClr>
            </a:solidFill>
          </a:ln>
        </p:spPr>
        <p:txBody>
          <a:bodyPr vert="horz" wrap="square" lIns="91440" tIns="45720" rIns="91440" bIns="45720" numCol="1" anchor="t" anchorCtr="0" compatLnSpc="1">
            <a:prstTxWarp prst="textNoShape">
              <a:avLst/>
            </a:prstTxWarp>
          </a:bodyPr>
          <a:lstStyle/>
          <a:p>
            <a:endParaRPr lang="en-US"/>
          </a:p>
        </p:txBody>
      </p:sp>
      <p:sp>
        <p:nvSpPr>
          <p:cNvPr id="23" name="Rectangle 22">
            <a:extLst>
              <a:ext uri="{FF2B5EF4-FFF2-40B4-BE49-F238E27FC236}">
                <a16:creationId xmlns:a16="http://schemas.microsoft.com/office/drawing/2014/main" id="{41F53967-55A5-44D6-A847-9F98AB05F1BB}"/>
              </a:ext>
            </a:extLst>
          </p:cNvPr>
          <p:cNvSpPr/>
          <p:nvPr/>
        </p:nvSpPr>
        <p:spPr>
          <a:xfrm>
            <a:off x="5974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
        <p:nvSpPr>
          <p:cNvPr id="24" name="Rectangle 23">
            <a:extLst>
              <a:ext uri="{FF2B5EF4-FFF2-40B4-BE49-F238E27FC236}">
                <a16:creationId xmlns:a16="http://schemas.microsoft.com/office/drawing/2014/main" id="{BD4CC9B4-96B0-4830-B09B-EC638BB50DBA}"/>
              </a:ext>
            </a:extLst>
          </p:cNvPr>
          <p:cNvSpPr/>
          <p:nvPr/>
        </p:nvSpPr>
        <p:spPr>
          <a:xfrm>
            <a:off x="5974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pic>
        <p:nvPicPr>
          <p:cNvPr id="25" name="Picture 24">
            <a:extLst>
              <a:ext uri="{FF2B5EF4-FFF2-40B4-BE49-F238E27FC236}">
                <a16:creationId xmlns:a16="http://schemas.microsoft.com/office/drawing/2014/main" id="{C0F30F41-3273-430D-83B2-BD5683E699EB}"/>
              </a:ext>
            </a:extLst>
          </p:cNvPr>
          <p:cNvPicPr>
            <a:picLocks noChangeAspect="1"/>
          </p:cNvPicPr>
          <p:nvPr/>
        </p:nvPicPr>
        <p:blipFill rotWithShape="1">
          <a:blip r:embed="rId3"/>
          <a:srcRect t="3678" r="3958"/>
          <a:stretch/>
        </p:blipFill>
        <p:spPr>
          <a:xfrm>
            <a:off x="216601" y="4874358"/>
            <a:ext cx="8273261" cy="1401659"/>
          </a:xfrm>
          <a:prstGeom prst="rect">
            <a:avLst/>
          </a:prstGeom>
        </p:spPr>
      </p:pic>
      <p:pic>
        <p:nvPicPr>
          <p:cNvPr id="33" name="Graphic 32" descr="Camera">
            <a:extLst>
              <a:ext uri="{FF2B5EF4-FFF2-40B4-BE49-F238E27FC236}">
                <a16:creationId xmlns:a16="http://schemas.microsoft.com/office/drawing/2014/main" id="{844681E7-7F4F-43E5-94D9-9B2146D590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38855" y="1998898"/>
            <a:ext cx="914400" cy="914400"/>
          </a:xfrm>
          <a:prstGeom prst="rect">
            <a:avLst/>
          </a:prstGeom>
        </p:spPr>
      </p:pic>
      <p:pic>
        <p:nvPicPr>
          <p:cNvPr id="37" name="Graphic 36" descr="Farmer">
            <a:extLst>
              <a:ext uri="{FF2B5EF4-FFF2-40B4-BE49-F238E27FC236}">
                <a16:creationId xmlns:a16="http://schemas.microsoft.com/office/drawing/2014/main" id="{28860B3C-E0A6-418B-8CF6-0BBB21972B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56734" y="1979051"/>
            <a:ext cx="914400" cy="914400"/>
          </a:xfrm>
          <a:prstGeom prst="rect">
            <a:avLst/>
          </a:prstGeom>
        </p:spPr>
      </p:pic>
      <p:pic>
        <p:nvPicPr>
          <p:cNvPr id="46" name="Graphic 45" descr="Corn">
            <a:extLst>
              <a:ext uri="{FF2B5EF4-FFF2-40B4-BE49-F238E27FC236}">
                <a16:creationId xmlns:a16="http://schemas.microsoft.com/office/drawing/2014/main" id="{03A9CABA-43BA-48E2-BFFB-3096A60E554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46088" y="1904794"/>
            <a:ext cx="914400" cy="914400"/>
          </a:xfrm>
          <a:prstGeom prst="rect">
            <a:avLst/>
          </a:prstGeom>
        </p:spPr>
      </p:pic>
    </p:spTree>
    <p:extLst>
      <p:ext uri="{BB962C8B-B14F-4D97-AF65-F5344CB8AC3E}">
        <p14:creationId xmlns:p14="http://schemas.microsoft.com/office/powerpoint/2010/main" val="140884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F07F9B-89A1-4D35-9DF2-891637E2A08D}"/>
              </a:ext>
            </a:extLst>
          </p:cNvPr>
          <p:cNvSpPr>
            <a:spLocks noGrp="1"/>
          </p:cNvSpPr>
          <p:nvPr>
            <p:ph type="title"/>
          </p:nvPr>
        </p:nvSpPr>
        <p:spPr>
          <a:xfrm>
            <a:off x="985147" y="553245"/>
            <a:ext cx="9211054" cy="620181"/>
          </a:xfrm>
        </p:spPr>
        <p:txBody>
          <a:bodyPr>
            <a:noAutofit/>
          </a:bodyPr>
          <a:lstStyle/>
          <a:p>
            <a:r>
              <a:rPr lang="en-US" sz="3000" b="1" i="1">
                <a:solidFill>
                  <a:srgbClr val="66B512"/>
                </a:solidFill>
                <a:latin typeface="Arial"/>
                <a:cs typeface="Calibri Light"/>
              </a:rPr>
              <a:t>Ideal state: 2X phenotyping with representative phenotype for most important Processor Market</a:t>
            </a:r>
          </a:p>
        </p:txBody>
      </p:sp>
      <p:sp>
        <p:nvSpPr>
          <p:cNvPr id="29" name="TextBox 28">
            <a:extLst>
              <a:ext uri="{FF2B5EF4-FFF2-40B4-BE49-F238E27FC236}">
                <a16:creationId xmlns:a16="http://schemas.microsoft.com/office/drawing/2014/main" id="{BC8A98B6-EF63-431F-950D-2B944C453E68}"/>
              </a:ext>
            </a:extLst>
          </p:cNvPr>
          <p:cNvSpPr txBox="1"/>
          <p:nvPr/>
        </p:nvSpPr>
        <p:spPr>
          <a:xfrm>
            <a:off x="9366738" y="480646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cs typeface="Segoe UI"/>
            </a:endParaRPr>
          </a:p>
        </p:txBody>
      </p:sp>
      <p:graphicFrame>
        <p:nvGraphicFramePr>
          <p:cNvPr id="6" name="Diagram 5">
            <a:extLst>
              <a:ext uri="{FF2B5EF4-FFF2-40B4-BE49-F238E27FC236}">
                <a16:creationId xmlns:a16="http://schemas.microsoft.com/office/drawing/2014/main" id="{6D019BDE-2487-4A69-AAC8-EB99F1BA3B62}"/>
              </a:ext>
            </a:extLst>
          </p:cNvPr>
          <p:cNvGraphicFramePr/>
          <p:nvPr/>
        </p:nvGraphicFramePr>
        <p:xfrm>
          <a:off x="1004647" y="2198974"/>
          <a:ext cx="3062025" cy="45146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F0F55BE7-CA99-4996-9C1D-F4C32FA7F699}"/>
              </a:ext>
            </a:extLst>
          </p:cNvPr>
          <p:cNvSpPr txBox="1"/>
          <p:nvPr/>
        </p:nvSpPr>
        <p:spPr>
          <a:xfrm>
            <a:off x="6801852" y="2269312"/>
            <a:ext cx="3433011" cy="646331"/>
          </a:xfrm>
          <a:prstGeom prst="rect">
            <a:avLst/>
          </a:prstGeom>
          <a:noFill/>
        </p:spPr>
        <p:txBody>
          <a:bodyPr wrap="square" rtlCol="0">
            <a:spAutoFit/>
          </a:bodyPr>
          <a:lstStyle/>
          <a:p>
            <a:r>
              <a:rPr lang="en-US"/>
              <a:t>Maximum diversity &amp; ideal for Genomic Selection training </a:t>
            </a:r>
          </a:p>
        </p:txBody>
      </p:sp>
      <p:sp>
        <p:nvSpPr>
          <p:cNvPr id="14" name="TextBox 13">
            <a:extLst>
              <a:ext uri="{FF2B5EF4-FFF2-40B4-BE49-F238E27FC236}">
                <a16:creationId xmlns:a16="http://schemas.microsoft.com/office/drawing/2014/main" id="{05ABCE22-5C1F-4393-A319-E5A23541C745}"/>
              </a:ext>
            </a:extLst>
          </p:cNvPr>
          <p:cNvSpPr txBox="1"/>
          <p:nvPr/>
        </p:nvSpPr>
        <p:spPr>
          <a:xfrm rot="16200000">
            <a:off x="4923778" y="2631043"/>
            <a:ext cx="461665" cy="1879099"/>
          </a:xfrm>
          <a:prstGeom prst="rect">
            <a:avLst/>
          </a:prstGeom>
          <a:noFill/>
        </p:spPr>
        <p:txBody>
          <a:bodyPr vert="eaVert" wrap="square" rtlCol="0">
            <a:spAutoFit/>
          </a:bodyPr>
          <a:lstStyle/>
          <a:p>
            <a:pPr algn="ctr"/>
            <a:r>
              <a:rPr lang="en-US"/>
              <a:t>Limited homesite</a:t>
            </a:r>
          </a:p>
        </p:txBody>
      </p:sp>
      <p:sp>
        <p:nvSpPr>
          <p:cNvPr id="21" name="TextBox 20">
            <a:extLst>
              <a:ext uri="{FF2B5EF4-FFF2-40B4-BE49-F238E27FC236}">
                <a16:creationId xmlns:a16="http://schemas.microsoft.com/office/drawing/2014/main" id="{F65C1617-C2CA-4C3B-B5F8-AA4F26E44CCA}"/>
              </a:ext>
            </a:extLst>
          </p:cNvPr>
          <p:cNvSpPr txBox="1"/>
          <p:nvPr/>
        </p:nvSpPr>
        <p:spPr>
          <a:xfrm rot="16200000">
            <a:off x="4608691" y="3828972"/>
            <a:ext cx="461665" cy="1136977"/>
          </a:xfrm>
          <a:prstGeom prst="rect">
            <a:avLst/>
          </a:prstGeom>
          <a:noFill/>
        </p:spPr>
        <p:txBody>
          <a:bodyPr vert="eaVert" wrap="square" rtlCol="0">
            <a:spAutoFit/>
          </a:bodyPr>
          <a:lstStyle/>
          <a:p>
            <a:pPr algn="ctr"/>
            <a:r>
              <a:rPr lang="en-US"/>
              <a:t>Homesite</a:t>
            </a:r>
          </a:p>
        </p:txBody>
      </p:sp>
      <p:sp>
        <p:nvSpPr>
          <p:cNvPr id="22" name="TextBox 21">
            <a:extLst>
              <a:ext uri="{FF2B5EF4-FFF2-40B4-BE49-F238E27FC236}">
                <a16:creationId xmlns:a16="http://schemas.microsoft.com/office/drawing/2014/main" id="{50146FA8-5927-4E02-8B8A-3DAE79735233}"/>
              </a:ext>
            </a:extLst>
          </p:cNvPr>
          <p:cNvSpPr txBox="1"/>
          <p:nvPr/>
        </p:nvSpPr>
        <p:spPr>
          <a:xfrm rot="16200000">
            <a:off x="4675908" y="4890986"/>
            <a:ext cx="738664" cy="1520164"/>
          </a:xfrm>
          <a:prstGeom prst="rect">
            <a:avLst/>
          </a:prstGeom>
          <a:noFill/>
        </p:spPr>
        <p:txBody>
          <a:bodyPr vert="eaVert" wrap="square" rtlCol="0">
            <a:spAutoFit/>
          </a:bodyPr>
          <a:lstStyle/>
          <a:p>
            <a:pPr algn="ctr"/>
            <a:r>
              <a:rPr lang="en-US"/>
              <a:t>Multi-location and reps</a:t>
            </a:r>
          </a:p>
        </p:txBody>
      </p:sp>
      <p:sp>
        <p:nvSpPr>
          <p:cNvPr id="23" name="TextBox 22">
            <a:extLst>
              <a:ext uri="{FF2B5EF4-FFF2-40B4-BE49-F238E27FC236}">
                <a16:creationId xmlns:a16="http://schemas.microsoft.com/office/drawing/2014/main" id="{62121090-7182-4FFA-AD38-5E6BC7D4053F}"/>
              </a:ext>
            </a:extLst>
          </p:cNvPr>
          <p:cNvSpPr txBox="1"/>
          <p:nvPr/>
        </p:nvSpPr>
        <p:spPr>
          <a:xfrm rot="16200000">
            <a:off x="4814407" y="1666633"/>
            <a:ext cx="461665" cy="1879099"/>
          </a:xfrm>
          <a:prstGeom prst="rect">
            <a:avLst/>
          </a:prstGeom>
          <a:noFill/>
        </p:spPr>
        <p:txBody>
          <a:bodyPr vert="eaVert" wrap="square" rtlCol="0">
            <a:spAutoFit/>
          </a:bodyPr>
          <a:lstStyle/>
          <a:p>
            <a:pPr algn="ctr"/>
            <a:r>
              <a:rPr lang="en-US"/>
              <a:t>No phenotype</a:t>
            </a:r>
          </a:p>
        </p:txBody>
      </p:sp>
      <p:sp>
        <p:nvSpPr>
          <p:cNvPr id="15" name="Rectangle 14">
            <a:extLst>
              <a:ext uri="{FF2B5EF4-FFF2-40B4-BE49-F238E27FC236}">
                <a16:creationId xmlns:a16="http://schemas.microsoft.com/office/drawing/2014/main" id="{30E6CC97-6996-4340-84EA-FEA06ECB7100}"/>
              </a:ext>
            </a:extLst>
          </p:cNvPr>
          <p:cNvSpPr/>
          <p:nvPr/>
        </p:nvSpPr>
        <p:spPr>
          <a:xfrm>
            <a:off x="4146883" y="2198974"/>
            <a:ext cx="140194" cy="849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495BF6-3CBF-4465-98B3-68F939E05567}"/>
              </a:ext>
            </a:extLst>
          </p:cNvPr>
          <p:cNvSpPr/>
          <p:nvPr/>
        </p:nvSpPr>
        <p:spPr>
          <a:xfrm>
            <a:off x="4146883" y="3146081"/>
            <a:ext cx="140194" cy="849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255963A-19F3-4645-A61E-D1EDAB06EA43}"/>
              </a:ext>
            </a:extLst>
          </p:cNvPr>
          <p:cNvSpPr/>
          <p:nvPr/>
        </p:nvSpPr>
        <p:spPr>
          <a:xfrm>
            <a:off x="4144964" y="4078396"/>
            <a:ext cx="140194" cy="849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A29274-A5C8-420B-9598-527CF7A86969}"/>
              </a:ext>
            </a:extLst>
          </p:cNvPr>
          <p:cNvSpPr/>
          <p:nvPr/>
        </p:nvSpPr>
        <p:spPr>
          <a:xfrm>
            <a:off x="4144964" y="4999566"/>
            <a:ext cx="140194" cy="1569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B8725DA-22F5-4D52-AC78-DECA2496B9A9}"/>
              </a:ext>
            </a:extLst>
          </p:cNvPr>
          <p:cNvSpPr txBox="1"/>
          <p:nvPr/>
        </p:nvSpPr>
        <p:spPr>
          <a:xfrm rot="16200000">
            <a:off x="5038948" y="601618"/>
            <a:ext cx="738664" cy="2526632"/>
          </a:xfrm>
          <a:prstGeom prst="rect">
            <a:avLst/>
          </a:prstGeom>
          <a:noFill/>
        </p:spPr>
        <p:txBody>
          <a:bodyPr vert="eaVert" wrap="square" rtlCol="0">
            <a:spAutoFit/>
          </a:bodyPr>
          <a:lstStyle/>
          <a:p>
            <a:pPr algn="ctr"/>
            <a:r>
              <a:rPr lang="en-US" u="sng"/>
              <a:t>Current data collection at eating/processing stage</a:t>
            </a:r>
          </a:p>
        </p:txBody>
      </p:sp>
      <p:sp>
        <p:nvSpPr>
          <p:cNvPr id="32" name="TextBox 31">
            <a:extLst>
              <a:ext uri="{FF2B5EF4-FFF2-40B4-BE49-F238E27FC236}">
                <a16:creationId xmlns:a16="http://schemas.microsoft.com/office/drawing/2014/main" id="{7E897EAD-C6C5-463B-A4CB-C1D69C356100}"/>
              </a:ext>
            </a:extLst>
          </p:cNvPr>
          <p:cNvSpPr txBox="1"/>
          <p:nvPr/>
        </p:nvSpPr>
        <p:spPr>
          <a:xfrm rot="16200000">
            <a:off x="2371961" y="844758"/>
            <a:ext cx="461665" cy="2173788"/>
          </a:xfrm>
          <a:prstGeom prst="rect">
            <a:avLst/>
          </a:prstGeom>
          <a:noFill/>
        </p:spPr>
        <p:txBody>
          <a:bodyPr vert="eaVert" wrap="square" rtlCol="0">
            <a:spAutoFit/>
          </a:bodyPr>
          <a:lstStyle/>
          <a:p>
            <a:pPr algn="ctr"/>
            <a:r>
              <a:rPr lang="en-US" u="sng"/>
              <a:t>Stage &amp; Pipeline Size</a:t>
            </a:r>
          </a:p>
        </p:txBody>
      </p:sp>
      <p:cxnSp>
        <p:nvCxnSpPr>
          <p:cNvPr id="17" name="Straight Arrow Connector 16">
            <a:extLst>
              <a:ext uri="{FF2B5EF4-FFF2-40B4-BE49-F238E27FC236}">
                <a16:creationId xmlns:a16="http://schemas.microsoft.com/office/drawing/2014/main" id="{8616E612-D175-45F8-A629-0C1473CF9701}"/>
              </a:ext>
            </a:extLst>
          </p:cNvPr>
          <p:cNvCxnSpPr>
            <a:cxnSpLocks/>
            <a:stCxn id="23" idx="2"/>
            <a:endCxn id="13" idx="1"/>
          </p:cNvCxnSpPr>
          <p:nvPr/>
        </p:nvCxnSpPr>
        <p:spPr>
          <a:xfrm flipV="1">
            <a:off x="5984789" y="2592478"/>
            <a:ext cx="817063" cy="13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00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D1B1AE-50DF-4F3F-9F11-468403B8B66B}"/>
              </a:ext>
            </a:extLst>
          </p:cNvPr>
          <p:cNvSpPr>
            <a:spLocks noGrp="1"/>
          </p:cNvSpPr>
          <p:nvPr>
            <p:ph type="title"/>
          </p:nvPr>
        </p:nvSpPr>
        <p:spPr>
          <a:xfrm>
            <a:off x="1041419" y="291517"/>
            <a:ext cx="8771197" cy="864000"/>
          </a:xfrm>
        </p:spPr>
        <p:txBody>
          <a:bodyPr>
            <a:normAutofit/>
          </a:bodyPr>
          <a:lstStyle/>
          <a:p>
            <a:r>
              <a:rPr lang="en-US" sz="3600" b="1" i="1" dirty="0">
                <a:solidFill>
                  <a:srgbClr val="66B512"/>
                </a:solidFill>
                <a:latin typeface="Arial"/>
                <a:cs typeface="Arial"/>
              </a:rPr>
              <a:t>Project plan road map</a:t>
            </a:r>
          </a:p>
        </p:txBody>
      </p:sp>
      <p:pic>
        <p:nvPicPr>
          <p:cNvPr id="35" name="Picture 35">
            <a:extLst>
              <a:ext uri="{FF2B5EF4-FFF2-40B4-BE49-F238E27FC236}">
                <a16:creationId xmlns:a16="http://schemas.microsoft.com/office/drawing/2014/main" id="{E8BF830A-000B-43E0-AEDD-F5E3CCDE6E78}"/>
              </a:ext>
            </a:extLst>
          </p:cNvPr>
          <p:cNvPicPr>
            <a:picLocks noChangeAspect="1"/>
          </p:cNvPicPr>
          <p:nvPr/>
        </p:nvPicPr>
        <p:blipFill>
          <a:blip r:embed="rId3"/>
          <a:stretch>
            <a:fillRect/>
          </a:stretch>
        </p:blipFill>
        <p:spPr>
          <a:xfrm>
            <a:off x="1831443" y="2704054"/>
            <a:ext cx="1593562" cy="1191200"/>
          </a:xfrm>
          <a:prstGeom prst="rect">
            <a:avLst/>
          </a:prstGeom>
        </p:spPr>
      </p:pic>
      <p:pic>
        <p:nvPicPr>
          <p:cNvPr id="9541" name="Picture 9541">
            <a:extLst>
              <a:ext uri="{FF2B5EF4-FFF2-40B4-BE49-F238E27FC236}">
                <a16:creationId xmlns:a16="http://schemas.microsoft.com/office/drawing/2014/main" id="{BB182037-2F02-4709-BC36-73C2586E8B35}"/>
              </a:ext>
            </a:extLst>
          </p:cNvPr>
          <p:cNvPicPr>
            <a:picLocks noChangeAspect="1"/>
          </p:cNvPicPr>
          <p:nvPr/>
        </p:nvPicPr>
        <p:blipFill rotWithShape="1">
          <a:blip r:embed="rId4"/>
          <a:srcRect l="566" t="24373" r="478" b="22222"/>
          <a:stretch/>
        </p:blipFill>
        <p:spPr>
          <a:xfrm>
            <a:off x="1941194" y="4098500"/>
            <a:ext cx="1483811" cy="1071171"/>
          </a:xfrm>
          <a:prstGeom prst="rect">
            <a:avLst/>
          </a:prstGeom>
        </p:spPr>
      </p:pic>
      <p:pic>
        <p:nvPicPr>
          <p:cNvPr id="9542" name="Picture 9542">
            <a:extLst>
              <a:ext uri="{FF2B5EF4-FFF2-40B4-BE49-F238E27FC236}">
                <a16:creationId xmlns:a16="http://schemas.microsoft.com/office/drawing/2014/main" id="{88EF7636-E62F-4851-8F52-08B1B8004431}"/>
              </a:ext>
            </a:extLst>
          </p:cNvPr>
          <p:cNvPicPr>
            <a:picLocks noChangeAspect="1"/>
          </p:cNvPicPr>
          <p:nvPr/>
        </p:nvPicPr>
        <p:blipFill>
          <a:blip r:embed="rId5"/>
          <a:stretch>
            <a:fillRect/>
          </a:stretch>
        </p:blipFill>
        <p:spPr>
          <a:xfrm>
            <a:off x="1831443" y="1407558"/>
            <a:ext cx="1521373" cy="1137611"/>
          </a:xfrm>
          <a:prstGeom prst="rect">
            <a:avLst/>
          </a:prstGeom>
        </p:spPr>
      </p:pic>
      <p:pic>
        <p:nvPicPr>
          <p:cNvPr id="11" name="Picture 10">
            <a:extLst>
              <a:ext uri="{FF2B5EF4-FFF2-40B4-BE49-F238E27FC236}">
                <a16:creationId xmlns:a16="http://schemas.microsoft.com/office/drawing/2014/main" id="{361E968A-41EA-4D36-81CB-432EAF2BA00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03" t="25432" r="-603" b="330"/>
          <a:stretch/>
        </p:blipFill>
        <p:spPr>
          <a:xfrm>
            <a:off x="1919160" y="5626646"/>
            <a:ext cx="3493547" cy="864000"/>
          </a:xfrm>
          <a:prstGeom prst="rect">
            <a:avLst/>
          </a:prstGeom>
        </p:spPr>
      </p:pic>
      <p:sp>
        <p:nvSpPr>
          <p:cNvPr id="2" name="TextBox 1">
            <a:extLst>
              <a:ext uri="{FF2B5EF4-FFF2-40B4-BE49-F238E27FC236}">
                <a16:creationId xmlns:a16="http://schemas.microsoft.com/office/drawing/2014/main" id="{E95FA72F-22D9-4EC5-80E1-66EA89B87547}"/>
              </a:ext>
            </a:extLst>
          </p:cNvPr>
          <p:cNvSpPr txBox="1"/>
          <p:nvPr/>
        </p:nvSpPr>
        <p:spPr>
          <a:xfrm>
            <a:off x="3457074" y="1467853"/>
            <a:ext cx="8337411" cy="646331"/>
          </a:xfrm>
          <a:prstGeom prst="rect">
            <a:avLst/>
          </a:prstGeom>
          <a:noFill/>
        </p:spPr>
        <p:txBody>
          <a:bodyPr wrap="none" rtlCol="0">
            <a:spAutoFit/>
          </a:bodyPr>
          <a:lstStyle/>
          <a:p>
            <a:r>
              <a:rPr lang="en-US"/>
              <a:t>What is the heritability of: % Recovery, % Cut Kernel, % Green Weight</a:t>
            </a:r>
          </a:p>
          <a:p>
            <a:r>
              <a:rPr lang="en-US"/>
              <a:t>Will % Cut Kernel or % Green Weight result in a more aggressive response to selection?</a:t>
            </a:r>
          </a:p>
        </p:txBody>
      </p:sp>
      <p:sp>
        <p:nvSpPr>
          <p:cNvPr id="13" name="TextBox 12">
            <a:extLst>
              <a:ext uri="{FF2B5EF4-FFF2-40B4-BE49-F238E27FC236}">
                <a16:creationId xmlns:a16="http://schemas.microsoft.com/office/drawing/2014/main" id="{1DED09B3-50C1-4D8E-B22C-35CCF6B5F6BA}"/>
              </a:ext>
            </a:extLst>
          </p:cNvPr>
          <p:cNvSpPr txBox="1"/>
          <p:nvPr/>
        </p:nvSpPr>
        <p:spPr>
          <a:xfrm>
            <a:off x="3457074" y="2738856"/>
            <a:ext cx="8553690" cy="646331"/>
          </a:xfrm>
          <a:prstGeom prst="rect">
            <a:avLst/>
          </a:prstGeom>
          <a:noFill/>
        </p:spPr>
        <p:txBody>
          <a:bodyPr wrap="square" rtlCol="0">
            <a:spAutoFit/>
          </a:bodyPr>
          <a:lstStyle/>
          <a:p>
            <a:r>
              <a:rPr lang="en-US"/>
              <a:t>What is the relationship between cut cob Ear Length, Diameter, and kernel depth at eating stage? </a:t>
            </a:r>
          </a:p>
        </p:txBody>
      </p:sp>
      <p:sp>
        <p:nvSpPr>
          <p:cNvPr id="14" name="TextBox 13">
            <a:extLst>
              <a:ext uri="{FF2B5EF4-FFF2-40B4-BE49-F238E27FC236}">
                <a16:creationId xmlns:a16="http://schemas.microsoft.com/office/drawing/2014/main" id="{6E26025F-F91C-412C-AF44-5BBA37899D99}"/>
              </a:ext>
            </a:extLst>
          </p:cNvPr>
          <p:cNvSpPr txBox="1"/>
          <p:nvPr/>
        </p:nvSpPr>
        <p:spPr>
          <a:xfrm>
            <a:off x="5427018" y="5613249"/>
            <a:ext cx="6367467" cy="646331"/>
          </a:xfrm>
          <a:prstGeom prst="rect">
            <a:avLst/>
          </a:prstGeom>
          <a:noFill/>
        </p:spPr>
        <p:txBody>
          <a:bodyPr wrap="square" rtlCol="0">
            <a:spAutoFit/>
          </a:bodyPr>
          <a:lstStyle/>
          <a:p>
            <a:r>
              <a:rPr lang="en-US" dirty="0"/>
              <a:t>Current process to collect % Recovery and foundational traits (% cut kernel and % green weight)</a:t>
            </a:r>
          </a:p>
        </p:txBody>
      </p:sp>
      <p:sp>
        <p:nvSpPr>
          <p:cNvPr id="15" name="TextBox 14">
            <a:extLst>
              <a:ext uri="{FF2B5EF4-FFF2-40B4-BE49-F238E27FC236}">
                <a16:creationId xmlns:a16="http://schemas.microsoft.com/office/drawing/2014/main" id="{4C3BC9F0-B5CB-467B-B614-7DE64DC1F32E}"/>
              </a:ext>
            </a:extLst>
          </p:cNvPr>
          <p:cNvSpPr txBox="1"/>
          <p:nvPr/>
        </p:nvSpPr>
        <p:spPr>
          <a:xfrm>
            <a:off x="3535996" y="4256371"/>
            <a:ext cx="8553690" cy="646331"/>
          </a:xfrm>
          <a:prstGeom prst="rect">
            <a:avLst/>
          </a:prstGeom>
          <a:noFill/>
        </p:spPr>
        <p:txBody>
          <a:bodyPr wrap="square" rtlCol="0">
            <a:spAutoFit/>
          </a:bodyPr>
          <a:lstStyle/>
          <a:p>
            <a:r>
              <a:rPr lang="en-US"/>
              <a:t>What is the relationship between cut cob Ear Length, Diameter, and kernel depth and additional traits at dry stage? </a:t>
            </a:r>
          </a:p>
        </p:txBody>
      </p:sp>
      <p:sp>
        <p:nvSpPr>
          <p:cNvPr id="4" name="Left Brace 3">
            <a:extLst>
              <a:ext uri="{FF2B5EF4-FFF2-40B4-BE49-F238E27FC236}">
                <a16:creationId xmlns:a16="http://schemas.microsoft.com/office/drawing/2014/main" id="{788608B5-7598-4E18-8955-32BBFF78A3DE}"/>
              </a:ext>
            </a:extLst>
          </p:cNvPr>
          <p:cNvSpPr/>
          <p:nvPr/>
        </p:nvSpPr>
        <p:spPr>
          <a:xfrm>
            <a:off x="1574431" y="1407557"/>
            <a:ext cx="198303" cy="37621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131C796D-832E-4541-9DD2-4BE68FA7BB2E}"/>
              </a:ext>
            </a:extLst>
          </p:cNvPr>
          <p:cNvSpPr txBox="1"/>
          <p:nvPr/>
        </p:nvSpPr>
        <p:spPr>
          <a:xfrm>
            <a:off x="432371" y="3062021"/>
            <a:ext cx="1325649" cy="646331"/>
          </a:xfrm>
          <a:prstGeom prst="rect">
            <a:avLst/>
          </a:prstGeom>
          <a:noFill/>
        </p:spPr>
        <p:txBody>
          <a:bodyPr wrap="square" rtlCol="0">
            <a:spAutoFit/>
          </a:bodyPr>
          <a:lstStyle/>
          <a:p>
            <a:r>
              <a:rPr lang="en-US" b="1" dirty="0">
                <a:solidFill>
                  <a:srgbClr val="7AC61F"/>
                </a:solidFill>
                <a:latin typeface="Arial" panose="020B0604020202020204" pitchFamily="34" charset="0"/>
                <a:cs typeface="Arial" panose="020B0604020202020204" pitchFamily="34" charset="0"/>
              </a:rPr>
              <a:t>New Approach</a:t>
            </a:r>
          </a:p>
        </p:txBody>
      </p:sp>
      <p:sp>
        <p:nvSpPr>
          <p:cNvPr id="16" name="TextBox 15">
            <a:extLst>
              <a:ext uri="{FF2B5EF4-FFF2-40B4-BE49-F238E27FC236}">
                <a16:creationId xmlns:a16="http://schemas.microsoft.com/office/drawing/2014/main" id="{43630B98-794E-4C07-AB6D-5109CF50D5E8}"/>
              </a:ext>
            </a:extLst>
          </p:cNvPr>
          <p:cNvSpPr txBox="1"/>
          <p:nvPr/>
        </p:nvSpPr>
        <p:spPr>
          <a:xfrm>
            <a:off x="316547" y="5735480"/>
            <a:ext cx="1413059" cy="646331"/>
          </a:xfrm>
          <a:prstGeom prst="rect">
            <a:avLst/>
          </a:prstGeom>
          <a:noFill/>
        </p:spPr>
        <p:txBody>
          <a:bodyPr wrap="square" rtlCol="0">
            <a:spAutoFit/>
          </a:bodyPr>
          <a:lstStyle/>
          <a:p>
            <a:r>
              <a:rPr lang="en-US" b="1" dirty="0">
                <a:solidFill>
                  <a:srgbClr val="7AC61F"/>
                </a:solidFill>
                <a:latin typeface="Arial" panose="020B0604020202020204" pitchFamily="34" charset="0"/>
                <a:cs typeface="Arial" panose="020B0604020202020204" pitchFamily="34" charset="0"/>
              </a:rPr>
              <a:t>Traditional way:</a:t>
            </a:r>
          </a:p>
        </p:txBody>
      </p:sp>
    </p:spTree>
    <p:extLst>
      <p:ext uri="{BB962C8B-B14F-4D97-AF65-F5344CB8AC3E}">
        <p14:creationId xmlns:p14="http://schemas.microsoft.com/office/powerpoint/2010/main" val="419056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C4672E-F2D9-4AE5-841F-A80DDEAC349F}"/>
              </a:ext>
            </a:extLst>
          </p:cNvPr>
          <p:cNvSpPr>
            <a:spLocks noGrp="1"/>
          </p:cNvSpPr>
          <p:nvPr>
            <p:ph type="title"/>
          </p:nvPr>
        </p:nvSpPr>
        <p:spPr>
          <a:xfrm>
            <a:off x="760859" y="117075"/>
            <a:ext cx="9574873" cy="932688"/>
          </a:xfrm>
        </p:spPr>
        <p:txBody>
          <a:bodyPr vert="horz" lIns="91440" tIns="45720" rIns="91440" bIns="45720" rtlCol="0" anchor="b">
            <a:noAutofit/>
          </a:bodyPr>
          <a:lstStyle/>
          <a:p>
            <a:r>
              <a:rPr lang="en-US" sz="3600" b="1" i="1">
                <a:solidFill>
                  <a:srgbClr val="66B512"/>
                </a:solidFill>
                <a:latin typeface="Arial"/>
                <a:cs typeface="Arial"/>
              </a:rPr>
              <a:t>Relationships</a:t>
            </a:r>
            <a:r>
              <a:rPr lang="en-US" sz="3600" b="1" i="1" kern="1200">
                <a:solidFill>
                  <a:srgbClr val="66B512"/>
                </a:solidFill>
                <a:latin typeface="Arial"/>
                <a:cs typeface="Arial"/>
              </a:rPr>
              <a:t> between </a:t>
            </a:r>
            <a:r>
              <a:rPr lang="en-US" sz="3600" b="1" i="1">
                <a:solidFill>
                  <a:srgbClr val="66B512"/>
                </a:solidFill>
                <a:latin typeface="Arial"/>
                <a:cs typeface="Arial"/>
              </a:rPr>
              <a:t>three key traits</a:t>
            </a:r>
            <a:endParaRPr lang="en-US" sz="3600" b="1" i="1" kern="1200">
              <a:solidFill>
                <a:srgbClr val="66B512"/>
              </a:solidFill>
              <a:latin typeface="Arial"/>
              <a:cs typeface="Arial"/>
            </a:endParaRPr>
          </a:p>
        </p:txBody>
      </p:sp>
      <p:sp>
        <p:nvSpPr>
          <p:cNvPr id="5" name="TextBox 4">
            <a:extLst>
              <a:ext uri="{FF2B5EF4-FFF2-40B4-BE49-F238E27FC236}">
                <a16:creationId xmlns:a16="http://schemas.microsoft.com/office/drawing/2014/main" id="{0519FFDE-0B9F-4F2E-BC62-8190DE8BB723}"/>
              </a:ext>
            </a:extLst>
          </p:cNvPr>
          <p:cNvSpPr txBox="1"/>
          <p:nvPr/>
        </p:nvSpPr>
        <p:spPr>
          <a:xfrm>
            <a:off x="6550573" y="2136228"/>
            <a:ext cx="55678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200" b="1">
              <a:solidFill>
                <a:schemeClr val="tx1">
                  <a:lumMod val="85000"/>
                  <a:lumOff val="15000"/>
                </a:schemeClr>
              </a:solidFill>
              <a:cs typeface="Calibri"/>
            </a:endParaRPr>
          </a:p>
        </p:txBody>
      </p:sp>
      <p:pic>
        <p:nvPicPr>
          <p:cNvPr id="7" name="Picture 7">
            <a:extLst>
              <a:ext uri="{FF2B5EF4-FFF2-40B4-BE49-F238E27FC236}">
                <a16:creationId xmlns:a16="http://schemas.microsoft.com/office/drawing/2014/main" id="{D246A688-1F12-4ED5-8C03-7C8D379ADDEE}"/>
              </a:ext>
            </a:extLst>
          </p:cNvPr>
          <p:cNvPicPr>
            <a:picLocks noChangeAspect="1"/>
          </p:cNvPicPr>
          <p:nvPr/>
        </p:nvPicPr>
        <p:blipFill>
          <a:blip r:embed="rId2"/>
          <a:stretch>
            <a:fillRect/>
          </a:stretch>
        </p:blipFill>
        <p:spPr>
          <a:xfrm>
            <a:off x="1045780" y="1395119"/>
            <a:ext cx="9496096" cy="5293062"/>
          </a:xfrm>
          <a:prstGeom prst="rect">
            <a:avLst/>
          </a:prstGeom>
        </p:spPr>
      </p:pic>
    </p:spTree>
    <p:extLst>
      <p:ext uri="{BB962C8B-B14F-4D97-AF65-F5344CB8AC3E}">
        <p14:creationId xmlns:p14="http://schemas.microsoft.com/office/powerpoint/2010/main" val="244862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D51D1F-6E64-45B6-83E3-9D545D9F7E96}"/>
              </a:ext>
            </a:extLst>
          </p:cNvPr>
          <p:cNvSpPr>
            <a:spLocks noGrp="1"/>
          </p:cNvSpPr>
          <p:nvPr>
            <p:ph type="title"/>
          </p:nvPr>
        </p:nvSpPr>
        <p:spPr>
          <a:xfrm>
            <a:off x="942534" y="458409"/>
            <a:ext cx="9106932" cy="864000"/>
          </a:xfrm>
        </p:spPr>
        <p:txBody>
          <a:bodyPr>
            <a:noAutofit/>
          </a:bodyPr>
          <a:lstStyle/>
          <a:p>
            <a:r>
              <a:rPr lang="en-US" sz="4000"/>
              <a:t>Heritability(%) estimation </a:t>
            </a:r>
            <a:r>
              <a:rPr lang="en-US" sz="4000">
                <a:ea typeface="+mj-lt"/>
                <a:cs typeface="+mj-lt"/>
              </a:rPr>
              <a:t>on entry-mean basis (Temperate)</a:t>
            </a:r>
            <a:endParaRPr lang="en-US" sz="4000"/>
          </a:p>
        </p:txBody>
      </p:sp>
      <p:graphicFrame>
        <p:nvGraphicFramePr>
          <p:cNvPr id="6" name="Table 6">
            <a:extLst>
              <a:ext uri="{FF2B5EF4-FFF2-40B4-BE49-F238E27FC236}">
                <a16:creationId xmlns:a16="http://schemas.microsoft.com/office/drawing/2014/main" id="{D88E67EF-315F-48BE-B802-307E03237C55}"/>
              </a:ext>
            </a:extLst>
          </p:cNvPr>
          <p:cNvGraphicFramePr>
            <a:graphicFrameLocks noGrp="1"/>
          </p:cNvGraphicFramePr>
          <p:nvPr>
            <p:extLst>
              <p:ext uri="{D42A27DB-BD31-4B8C-83A1-F6EECF244321}">
                <p14:modId xmlns:p14="http://schemas.microsoft.com/office/powerpoint/2010/main" val="2801233824"/>
              </p:ext>
            </p:extLst>
          </p:nvPr>
        </p:nvGraphicFramePr>
        <p:xfrm>
          <a:off x="981948" y="2501357"/>
          <a:ext cx="10357220" cy="3568877"/>
        </p:xfrm>
        <a:graphic>
          <a:graphicData uri="http://schemas.openxmlformats.org/drawingml/2006/table">
            <a:tbl>
              <a:tblPr firstRow="1" bandRow="1">
                <a:tableStyleId>{5C22544A-7EE6-4342-B048-85BDC9FD1C3A}</a:tableStyleId>
              </a:tblPr>
              <a:tblGrid>
                <a:gridCol w="2030428">
                  <a:extLst>
                    <a:ext uri="{9D8B030D-6E8A-4147-A177-3AD203B41FA5}">
                      <a16:colId xmlns:a16="http://schemas.microsoft.com/office/drawing/2014/main" val="369916752"/>
                    </a:ext>
                  </a:extLst>
                </a:gridCol>
                <a:gridCol w="2081698">
                  <a:extLst>
                    <a:ext uri="{9D8B030D-6E8A-4147-A177-3AD203B41FA5}">
                      <a16:colId xmlns:a16="http://schemas.microsoft.com/office/drawing/2014/main" val="491728615"/>
                    </a:ext>
                  </a:extLst>
                </a:gridCol>
                <a:gridCol w="2081698">
                  <a:extLst>
                    <a:ext uri="{9D8B030D-6E8A-4147-A177-3AD203B41FA5}">
                      <a16:colId xmlns:a16="http://schemas.microsoft.com/office/drawing/2014/main" val="3606166804"/>
                    </a:ext>
                  </a:extLst>
                </a:gridCol>
                <a:gridCol w="2081698">
                  <a:extLst>
                    <a:ext uri="{9D8B030D-6E8A-4147-A177-3AD203B41FA5}">
                      <a16:colId xmlns:a16="http://schemas.microsoft.com/office/drawing/2014/main" val="3306517340"/>
                    </a:ext>
                  </a:extLst>
                </a:gridCol>
                <a:gridCol w="2081698">
                  <a:extLst>
                    <a:ext uri="{9D8B030D-6E8A-4147-A177-3AD203B41FA5}">
                      <a16:colId xmlns:a16="http://schemas.microsoft.com/office/drawing/2014/main" val="352590484"/>
                    </a:ext>
                  </a:extLst>
                </a:gridCol>
              </a:tblGrid>
              <a:tr h="702487">
                <a:tc>
                  <a:txBody>
                    <a:bodyPr/>
                    <a:lstStyle/>
                    <a:p>
                      <a:endParaRPr lang="en-US"/>
                    </a:p>
                  </a:txBody>
                  <a:tcPr/>
                </a:tc>
                <a:tc>
                  <a:txBody>
                    <a:bodyPr/>
                    <a:lstStyle/>
                    <a:p>
                      <a:r>
                        <a:rPr lang="en-US"/>
                        <a:t>Recovery</a:t>
                      </a:r>
                    </a:p>
                  </a:txBody>
                  <a:tcPr/>
                </a:tc>
                <a:tc>
                  <a:txBody>
                    <a:bodyPr/>
                    <a:lstStyle/>
                    <a:p>
                      <a:r>
                        <a:rPr lang="en-US">
                          <a:solidFill>
                            <a:schemeClr val="bg1"/>
                          </a:solidFill>
                        </a:rPr>
                        <a:t>Percent cut kernel</a:t>
                      </a:r>
                    </a:p>
                  </a:txBody>
                  <a:tcPr/>
                </a:tc>
                <a:tc>
                  <a:txBody>
                    <a:bodyPr/>
                    <a:lstStyle/>
                    <a:p>
                      <a:r>
                        <a:rPr lang="en-US"/>
                        <a:t>Percent green weigh</a:t>
                      </a:r>
                    </a:p>
                  </a:txBody>
                  <a:tcPr/>
                </a:tc>
                <a:tc>
                  <a:txBody>
                    <a:bodyPr/>
                    <a:lstStyle/>
                    <a:p>
                      <a:pPr lvl="0">
                        <a:buNone/>
                      </a:pPr>
                      <a:r>
                        <a:rPr lang="en-US"/>
                        <a:t>Percent cob weigh</a:t>
                      </a:r>
                    </a:p>
                  </a:txBody>
                  <a:tcPr/>
                </a:tc>
                <a:extLst>
                  <a:ext uri="{0D108BD9-81ED-4DB2-BD59-A6C34878D82A}">
                    <a16:rowId xmlns:a16="http://schemas.microsoft.com/office/drawing/2014/main" val="3119839147"/>
                  </a:ext>
                </a:extLst>
              </a:tr>
              <a:tr h="406997">
                <a:tc>
                  <a:txBody>
                    <a:bodyPr/>
                    <a:lstStyle/>
                    <a:p>
                      <a:r>
                        <a:rPr lang="en-US" sz="2000">
                          <a:latin typeface="Times New Roman" panose="02020603050405020304" pitchFamily="18" charset="0"/>
                          <a:cs typeface="Times New Roman" panose="02020603050405020304" pitchFamily="18" charset="0"/>
                        </a:rPr>
                        <a:t>Genetic variances</a:t>
                      </a:r>
                    </a:p>
                  </a:txBody>
                  <a:tcPr/>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6.4</a:t>
                      </a:r>
                    </a:p>
                  </a:txBody>
                  <a:tcPr marL="6350" marR="6350" marT="6350" marB="0" anchor="b"/>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2.5</a:t>
                      </a:r>
                    </a:p>
                  </a:txBody>
                  <a:tcPr marL="6350" marR="6350" marT="6350" marB="0" anchor="b"/>
                </a:tc>
                <a:tc>
                  <a:txBody>
                    <a:bodyPr/>
                    <a:lstStyle/>
                    <a:p>
                      <a:pPr algn="r" fontAlgn="b"/>
                      <a:r>
                        <a:rPr lang="en-US" sz="2800" b="0" i="0" u="none" strike="noStrike">
                          <a:solidFill>
                            <a:srgbClr val="000000"/>
                          </a:solidFill>
                          <a:effectLst/>
                          <a:latin typeface="Times New Roman"/>
                          <a:cs typeface="Times New Roman"/>
                        </a:rPr>
                        <a:t>7.2</a:t>
                      </a:r>
                      <a:endParaRPr lang="en-US" sz="2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lvl="0" algn="r">
                        <a:buNone/>
                      </a:pPr>
                      <a:r>
                        <a:rPr lang="en-US" sz="2800" b="0" i="0" u="none" strike="noStrike">
                          <a:solidFill>
                            <a:srgbClr val="000000"/>
                          </a:solidFill>
                          <a:effectLst/>
                          <a:latin typeface="Times New Roman"/>
                          <a:cs typeface="Times New Roman"/>
                        </a:rPr>
                        <a:t>1.9</a:t>
                      </a:r>
                    </a:p>
                  </a:txBody>
                  <a:tcPr marL="6350" marR="6350" marT="6350" marB="0"/>
                </a:tc>
                <a:extLst>
                  <a:ext uri="{0D108BD9-81ED-4DB2-BD59-A6C34878D82A}">
                    <a16:rowId xmlns:a16="http://schemas.microsoft.com/office/drawing/2014/main" val="1308227317"/>
                  </a:ext>
                </a:extLst>
              </a:tr>
              <a:tr h="428788">
                <a:tc>
                  <a:txBody>
                    <a:bodyPr/>
                    <a:lstStyle/>
                    <a:p>
                      <a:r>
                        <a:rPr lang="en-US" sz="2000">
                          <a:latin typeface="Times New Roman" panose="02020603050405020304" pitchFamily="18" charset="0"/>
                          <a:cs typeface="Times New Roman" panose="02020603050405020304" pitchFamily="18" charset="0"/>
                        </a:rPr>
                        <a:t>Environmental variances</a:t>
                      </a:r>
                    </a:p>
                  </a:txBody>
                  <a:tcPr/>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3.0</a:t>
                      </a:r>
                    </a:p>
                  </a:txBody>
                  <a:tcPr marL="6350" marR="6350" marT="6350" marB="0" anchor="b"/>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2.5</a:t>
                      </a:r>
                    </a:p>
                  </a:txBody>
                  <a:tcPr marL="6350" marR="6350" marT="6350" marB="0" anchor="b"/>
                </a:tc>
                <a:tc>
                  <a:txBody>
                    <a:bodyPr/>
                    <a:lstStyle/>
                    <a:p>
                      <a:pPr algn="r" fontAlgn="b"/>
                      <a:r>
                        <a:rPr lang="en-US" sz="2800" b="0" i="0" u="none" strike="noStrike">
                          <a:solidFill>
                            <a:srgbClr val="000000"/>
                          </a:solidFill>
                          <a:effectLst/>
                          <a:latin typeface="Times New Roman"/>
                          <a:cs typeface="Times New Roman"/>
                        </a:rPr>
                        <a:t>3.0</a:t>
                      </a:r>
                      <a:endParaRPr lang="en-US" sz="2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lvl="0" algn="r">
                        <a:buNone/>
                      </a:pPr>
                      <a:r>
                        <a:rPr lang="en-US" sz="2800" b="0" i="0" u="none" strike="noStrike">
                          <a:solidFill>
                            <a:srgbClr val="000000"/>
                          </a:solidFill>
                          <a:effectLst/>
                          <a:latin typeface="Times New Roman"/>
                          <a:cs typeface="Times New Roman"/>
                        </a:rPr>
                        <a:t>0.5</a:t>
                      </a:r>
                    </a:p>
                  </a:txBody>
                  <a:tcPr marL="6350" marR="6350" marT="6350" marB="0"/>
                </a:tc>
                <a:extLst>
                  <a:ext uri="{0D108BD9-81ED-4DB2-BD59-A6C34878D82A}">
                    <a16:rowId xmlns:a16="http://schemas.microsoft.com/office/drawing/2014/main" val="3996484401"/>
                  </a:ext>
                </a:extLst>
              </a:tr>
              <a:tr h="406997">
                <a:tc>
                  <a:txBody>
                    <a:bodyPr/>
                    <a:lstStyle/>
                    <a:p>
                      <a:r>
                        <a:rPr lang="en-US" sz="2000">
                          <a:latin typeface="Times New Roman" panose="02020603050405020304" pitchFamily="18" charset="0"/>
                          <a:cs typeface="Times New Roman" panose="02020603050405020304" pitchFamily="18" charset="0"/>
                        </a:rPr>
                        <a:t>G*E</a:t>
                      </a:r>
                    </a:p>
                  </a:txBody>
                  <a:tcPr/>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0.9</a:t>
                      </a:r>
                    </a:p>
                  </a:txBody>
                  <a:tcPr marL="6350" marR="6350" marT="6350" marB="0" anchor="b"/>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0.7</a:t>
                      </a:r>
                    </a:p>
                  </a:txBody>
                  <a:tcPr marL="6350" marR="6350" marT="6350" marB="0" anchor="b"/>
                </a:tc>
                <a:tc>
                  <a:txBody>
                    <a:bodyPr/>
                    <a:lstStyle/>
                    <a:p>
                      <a:pPr algn="r" fontAlgn="b"/>
                      <a:r>
                        <a:rPr lang="en-US" sz="2800" b="0" i="0" u="none" strike="noStrike">
                          <a:solidFill>
                            <a:srgbClr val="000000"/>
                          </a:solidFill>
                          <a:effectLst/>
                          <a:latin typeface="Times New Roman"/>
                          <a:cs typeface="Times New Roman"/>
                        </a:rPr>
                        <a:t>1.6</a:t>
                      </a:r>
                      <a:endParaRPr lang="en-US" sz="2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lvl="0" algn="r">
                        <a:buNone/>
                      </a:pPr>
                      <a:r>
                        <a:rPr lang="en-US" sz="2800" b="0" i="0" u="none" strike="noStrike">
                          <a:solidFill>
                            <a:srgbClr val="000000"/>
                          </a:solidFill>
                          <a:effectLst/>
                          <a:latin typeface="Times New Roman"/>
                          <a:cs typeface="Times New Roman"/>
                        </a:rPr>
                        <a:t>0.7</a:t>
                      </a:r>
                    </a:p>
                  </a:txBody>
                  <a:tcPr marL="6350" marR="6350" marT="6350" marB="0"/>
                </a:tc>
                <a:extLst>
                  <a:ext uri="{0D108BD9-81ED-4DB2-BD59-A6C34878D82A}">
                    <a16:rowId xmlns:a16="http://schemas.microsoft.com/office/drawing/2014/main" val="1450843148"/>
                  </a:ext>
                </a:extLst>
              </a:tr>
              <a:tr h="406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Times New Roman" panose="02020603050405020304" pitchFamily="18" charset="0"/>
                          <a:cs typeface="Times New Roman" panose="02020603050405020304" pitchFamily="18" charset="0"/>
                        </a:rPr>
                        <a:t>E*R*S</a:t>
                      </a:r>
                    </a:p>
                  </a:txBody>
                  <a:tcPr/>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10.9</a:t>
                      </a:r>
                    </a:p>
                  </a:txBody>
                  <a:tcPr marL="6350" marR="6350" marT="6350" marB="0" anchor="b"/>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2.4</a:t>
                      </a:r>
                    </a:p>
                  </a:txBody>
                  <a:tcPr marL="6350" marR="6350" marT="6350" marB="0" anchor="b"/>
                </a:tc>
                <a:tc>
                  <a:txBody>
                    <a:bodyPr/>
                    <a:lstStyle/>
                    <a:p>
                      <a:pPr algn="r" fontAlgn="b"/>
                      <a:r>
                        <a:rPr lang="en-US" sz="2800" b="0" i="0" u="none" strike="noStrike">
                          <a:solidFill>
                            <a:srgbClr val="000000"/>
                          </a:solidFill>
                          <a:effectLst/>
                          <a:latin typeface="Times New Roman"/>
                          <a:cs typeface="Times New Roman"/>
                        </a:rPr>
                        <a:t>16.9</a:t>
                      </a:r>
                      <a:endParaRPr lang="en-US" sz="2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lvl="0" algn="r">
                        <a:buNone/>
                      </a:pPr>
                      <a:r>
                        <a:rPr lang="en-US" sz="2800" b="0" i="0" u="none" strike="noStrike">
                          <a:solidFill>
                            <a:srgbClr val="000000"/>
                          </a:solidFill>
                          <a:effectLst/>
                          <a:latin typeface="Times New Roman"/>
                          <a:cs typeface="Times New Roman"/>
                        </a:rPr>
                        <a:t>1.9</a:t>
                      </a:r>
                    </a:p>
                  </a:txBody>
                  <a:tcPr marL="6350" marR="6350" marT="6350" marB="0"/>
                </a:tc>
                <a:extLst>
                  <a:ext uri="{0D108BD9-81ED-4DB2-BD59-A6C34878D82A}">
                    <a16:rowId xmlns:a16="http://schemas.microsoft.com/office/drawing/2014/main" val="2052267928"/>
                  </a:ext>
                </a:extLst>
              </a:tr>
              <a:tr h="406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Times New Roman" panose="02020603050405020304" pitchFamily="18" charset="0"/>
                          <a:cs typeface="Times New Roman" panose="02020603050405020304" pitchFamily="18" charset="0"/>
                        </a:rPr>
                        <a:t>Residual</a:t>
                      </a:r>
                    </a:p>
                  </a:txBody>
                  <a:tcPr/>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18.3</a:t>
                      </a:r>
                    </a:p>
                  </a:txBody>
                  <a:tcPr marL="6350" marR="6350" marT="6350" marB="0" anchor="b"/>
                </a:tc>
                <a:tc>
                  <a:txBody>
                    <a:bodyPr/>
                    <a:lstStyle/>
                    <a:p>
                      <a:pPr algn="r" fontAlgn="b"/>
                      <a:r>
                        <a:rPr lang="en-US" sz="2800" b="0" i="0" u="none" strike="noStrike">
                          <a:solidFill>
                            <a:srgbClr val="000000"/>
                          </a:solidFill>
                          <a:effectLst/>
                          <a:latin typeface="Times New Roman" panose="02020603050405020304" pitchFamily="18" charset="0"/>
                          <a:cs typeface="Times New Roman" panose="02020603050405020304" pitchFamily="18" charset="0"/>
                        </a:rPr>
                        <a:t>11.3</a:t>
                      </a:r>
                    </a:p>
                  </a:txBody>
                  <a:tcPr marL="6350" marR="6350" marT="6350" marB="0" anchor="b"/>
                </a:tc>
                <a:tc>
                  <a:txBody>
                    <a:bodyPr/>
                    <a:lstStyle/>
                    <a:p>
                      <a:pPr algn="r" fontAlgn="b"/>
                      <a:r>
                        <a:rPr lang="en-US" sz="2800" b="0" i="0" u="none" strike="noStrike">
                          <a:solidFill>
                            <a:srgbClr val="000000"/>
                          </a:solidFill>
                          <a:effectLst/>
                          <a:latin typeface="Times New Roman"/>
                          <a:cs typeface="Times New Roman"/>
                        </a:rPr>
                        <a:t>17.4</a:t>
                      </a:r>
                      <a:endParaRPr lang="en-US" sz="2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lvl="0" algn="r">
                        <a:buNone/>
                      </a:pPr>
                      <a:r>
                        <a:rPr lang="en-US" sz="2800" b="0" i="0" u="none" strike="noStrike">
                          <a:solidFill>
                            <a:srgbClr val="000000"/>
                          </a:solidFill>
                          <a:effectLst/>
                          <a:latin typeface="Times New Roman"/>
                          <a:cs typeface="Times New Roman"/>
                        </a:rPr>
                        <a:t>10.2</a:t>
                      </a:r>
                    </a:p>
                  </a:txBody>
                  <a:tcPr marL="6350" marR="6350" marT="6350" marB="0"/>
                </a:tc>
                <a:extLst>
                  <a:ext uri="{0D108BD9-81ED-4DB2-BD59-A6C34878D82A}">
                    <a16:rowId xmlns:a16="http://schemas.microsoft.com/office/drawing/2014/main" val="4109106320"/>
                  </a:ext>
                </a:extLst>
              </a:tr>
              <a:tr h="406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a:solidFill>
                            <a:srgbClr val="FF0000"/>
                          </a:solidFill>
                          <a:latin typeface="Times New Roman"/>
                          <a:cs typeface="Times New Roman"/>
                        </a:rPr>
                        <a:t>h2</a:t>
                      </a:r>
                    </a:p>
                  </a:txBody>
                  <a:tcPr/>
                </a:tc>
                <a:tc>
                  <a:txBody>
                    <a:bodyPr/>
                    <a:lstStyle/>
                    <a:p>
                      <a:pPr algn="r" fontAlgn="b"/>
                      <a:r>
                        <a:rPr lang="en-US" sz="2800" b="0" i="0" u="none" strike="noStrike">
                          <a:solidFill>
                            <a:srgbClr val="FF0000"/>
                          </a:solidFill>
                          <a:effectLst/>
                          <a:latin typeface="Times New Roman"/>
                          <a:cs typeface="Times New Roman"/>
                        </a:rPr>
                        <a:t>34%</a:t>
                      </a:r>
                    </a:p>
                  </a:txBody>
                  <a:tcPr marL="6350" marR="6350" marT="6350" marB="0" anchor="b"/>
                </a:tc>
                <a:tc>
                  <a:txBody>
                    <a:bodyPr/>
                    <a:lstStyle/>
                    <a:p>
                      <a:pPr algn="r" fontAlgn="b"/>
                      <a:r>
                        <a:rPr lang="en-US" sz="2800" b="0" i="0" u="none" strike="noStrike">
                          <a:solidFill>
                            <a:srgbClr val="FF0000"/>
                          </a:solidFill>
                          <a:effectLst/>
                          <a:latin typeface="Times New Roman"/>
                          <a:cs typeface="Times New Roman"/>
                        </a:rPr>
                        <a:t>44%</a:t>
                      </a:r>
                    </a:p>
                  </a:txBody>
                  <a:tcPr marL="6350" marR="6350" marT="6350" marB="0" anchor="b"/>
                </a:tc>
                <a:tc>
                  <a:txBody>
                    <a:bodyPr/>
                    <a:lstStyle/>
                    <a:p>
                      <a:pPr algn="r" fontAlgn="b"/>
                      <a:r>
                        <a:rPr lang="en-US" sz="2800" b="0" i="0" u="none" strike="noStrike">
                          <a:solidFill>
                            <a:srgbClr val="FF0000"/>
                          </a:solidFill>
                          <a:effectLst/>
                          <a:latin typeface="Times New Roman"/>
                          <a:cs typeface="Times New Roman"/>
                        </a:rPr>
                        <a:t>28%</a:t>
                      </a:r>
                    </a:p>
                  </a:txBody>
                  <a:tcPr marL="6350" marR="6350" marT="6350" marB="0" anchor="b"/>
                </a:tc>
                <a:tc>
                  <a:txBody>
                    <a:bodyPr/>
                    <a:lstStyle/>
                    <a:p>
                      <a:pPr lvl="0" algn="r">
                        <a:buNone/>
                      </a:pPr>
                      <a:r>
                        <a:rPr lang="en-US" sz="2800" b="0" i="0" u="none" strike="noStrike">
                          <a:solidFill>
                            <a:srgbClr val="FF0000"/>
                          </a:solidFill>
                          <a:effectLst/>
                          <a:latin typeface="Times New Roman"/>
                          <a:cs typeface="Times New Roman"/>
                        </a:rPr>
                        <a:t>33%</a:t>
                      </a:r>
                    </a:p>
                  </a:txBody>
                  <a:tcPr marL="6350" marR="6350" marT="6350" marB="0"/>
                </a:tc>
                <a:extLst>
                  <a:ext uri="{0D108BD9-81ED-4DB2-BD59-A6C34878D82A}">
                    <a16:rowId xmlns:a16="http://schemas.microsoft.com/office/drawing/2014/main" val="3033354032"/>
                  </a:ext>
                </a:extLst>
              </a:tr>
            </a:tbl>
          </a:graphicData>
        </a:graphic>
      </p:graphicFrame>
      <p:pic>
        <p:nvPicPr>
          <p:cNvPr id="2" name="Picture 3">
            <a:extLst>
              <a:ext uri="{FF2B5EF4-FFF2-40B4-BE49-F238E27FC236}">
                <a16:creationId xmlns:a16="http://schemas.microsoft.com/office/drawing/2014/main" id="{E6C47931-CD94-4A1B-A3E3-396C51468B37}"/>
              </a:ext>
            </a:extLst>
          </p:cNvPr>
          <p:cNvPicPr>
            <a:picLocks noChangeAspect="1"/>
          </p:cNvPicPr>
          <p:nvPr/>
        </p:nvPicPr>
        <p:blipFill>
          <a:blip r:embed="rId3"/>
          <a:stretch>
            <a:fillRect/>
          </a:stretch>
        </p:blipFill>
        <p:spPr>
          <a:xfrm>
            <a:off x="1120009" y="1325454"/>
            <a:ext cx="3133396" cy="870059"/>
          </a:xfrm>
          <a:prstGeom prst="rect">
            <a:avLst/>
          </a:prstGeom>
        </p:spPr>
      </p:pic>
      <p:pic>
        <p:nvPicPr>
          <p:cNvPr id="4" name="Picture 4">
            <a:extLst>
              <a:ext uri="{FF2B5EF4-FFF2-40B4-BE49-F238E27FC236}">
                <a16:creationId xmlns:a16="http://schemas.microsoft.com/office/drawing/2014/main" id="{319A897E-765B-4D14-A648-CDDF82E1AEDC}"/>
              </a:ext>
            </a:extLst>
          </p:cNvPr>
          <p:cNvPicPr>
            <a:picLocks noChangeAspect="1"/>
          </p:cNvPicPr>
          <p:nvPr/>
        </p:nvPicPr>
        <p:blipFill>
          <a:blip r:embed="rId4"/>
          <a:stretch>
            <a:fillRect/>
          </a:stretch>
        </p:blipFill>
        <p:spPr>
          <a:xfrm>
            <a:off x="4688105" y="1257628"/>
            <a:ext cx="1370615" cy="1137088"/>
          </a:xfrm>
          <a:prstGeom prst="rect">
            <a:avLst/>
          </a:prstGeom>
        </p:spPr>
      </p:pic>
    </p:spTree>
    <p:extLst>
      <p:ext uri="{BB962C8B-B14F-4D97-AF65-F5344CB8AC3E}">
        <p14:creationId xmlns:p14="http://schemas.microsoft.com/office/powerpoint/2010/main" val="401775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7E33D87-809C-4FA3-9875-B592C5AF302A}"/>
              </a:ext>
            </a:extLst>
          </p:cNvPr>
          <p:cNvSpPr>
            <a:spLocks noGrp="1"/>
          </p:cNvSpPr>
          <p:nvPr>
            <p:ph type="subTitle" idx="13"/>
          </p:nvPr>
        </p:nvSpPr>
        <p:spPr>
          <a:xfrm>
            <a:off x="1047638" y="1177712"/>
            <a:ext cx="8153716" cy="619862"/>
          </a:xfrm>
        </p:spPr>
        <p:txBody>
          <a:bodyPr vert="horz" lIns="91440" tIns="45720" rIns="91440" bIns="45720" rtlCol="0" anchor="t">
            <a:noAutofit/>
          </a:bodyPr>
          <a:lstStyle/>
          <a:p>
            <a:endParaRPr lang="en-US" sz="2000">
              <a:cs typeface="Calibri"/>
            </a:endParaRPr>
          </a:p>
          <a:p>
            <a:endParaRPr lang="en-US"/>
          </a:p>
        </p:txBody>
      </p:sp>
      <p:sp>
        <p:nvSpPr>
          <p:cNvPr id="3" name="Title 2">
            <a:extLst>
              <a:ext uri="{FF2B5EF4-FFF2-40B4-BE49-F238E27FC236}">
                <a16:creationId xmlns:a16="http://schemas.microsoft.com/office/drawing/2014/main" id="{7C403ACF-EF16-4AC3-A775-250A078B3A76}"/>
              </a:ext>
            </a:extLst>
          </p:cNvPr>
          <p:cNvSpPr>
            <a:spLocks noGrp="1"/>
          </p:cNvSpPr>
          <p:nvPr>
            <p:ph type="title"/>
          </p:nvPr>
        </p:nvSpPr>
        <p:spPr>
          <a:xfrm>
            <a:off x="928084" y="197254"/>
            <a:ext cx="9546335" cy="864000"/>
          </a:xfrm>
        </p:spPr>
        <p:txBody>
          <a:bodyPr>
            <a:normAutofit/>
          </a:bodyPr>
          <a:lstStyle/>
          <a:p>
            <a:r>
              <a:rPr lang="en-US" dirty="0"/>
              <a:t>Digitally transforming our operations</a:t>
            </a:r>
            <a:endParaRPr lang="en-US" dirty="0">
              <a:cs typeface="Calibri Light"/>
            </a:endParaRPr>
          </a:p>
        </p:txBody>
      </p:sp>
      <p:sp>
        <p:nvSpPr>
          <p:cNvPr id="8" name="Rectangle: Rounded Corners 7">
            <a:extLst>
              <a:ext uri="{FF2B5EF4-FFF2-40B4-BE49-F238E27FC236}">
                <a16:creationId xmlns:a16="http://schemas.microsoft.com/office/drawing/2014/main" id="{4E9E210B-6963-4AE6-9BF5-B67ADCA1FF09}"/>
              </a:ext>
            </a:extLst>
          </p:cNvPr>
          <p:cNvSpPr/>
          <p:nvPr/>
        </p:nvSpPr>
        <p:spPr>
          <a:xfrm>
            <a:off x="609312" y="3853583"/>
            <a:ext cx="11383815" cy="2378361"/>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4C6E7"/>
              </a:solidFill>
            </a:endParaRPr>
          </a:p>
        </p:txBody>
      </p:sp>
      <p:sp>
        <p:nvSpPr>
          <p:cNvPr id="7" name="Rectangle: Rounded Corners 6">
            <a:extLst>
              <a:ext uri="{FF2B5EF4-FFF2-40B4-BE49-F238E27FC236}">
                <a16:creationId xmlns:a16="http://schemas.microsoft.com/office/drawing/2014/main" id="{AE9E049E-9BC4-4444-A3BC-16D2F144CA17}"/>
              </a:ext>
            </a:extLst>
          </p:cNvPr>
          <p:cNvSpPr/>
          <p:nvPr/>
        </p:nvSpPr>
        <p:spPr>
          <a:xfrm>
            <a:off x="678586" y="1417493"/>
            <a:ext cx="11245269" cy="2343726"/>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4C6E7"/>
              </a:solidFill>
            </a:endParaRPr>
          </a:p>
        </p:txBody>
      </p:sp>
      <p:sp>
        <p:nvSpPr>
          <p:cNvPr id="4" name="Content Placeholder 3">
            <a:extLst>
              <a:ext uri="{FF2B5EF4-FFF2-40B4-BE49-F238E27FC236}">
                <a16:creationId xmlns:a16="http://schemas.microsoft.com/office/drawing/2014/main" id="{59C35AA1-B707-4160-BB76-E196125D4F31}"/>
              </a:ext>
            </a:extLst>
          </p:cNvPr>
          <p:cNvSpPr>
            <a:spLocks noGrp="1"/>
          </p:cNvSpPr>
          <p:nvPr>
            <p:ph sz="quarter" idx="14"/>
          </p:nvPr>
        </p:nvSpPr>
        <p:spPr>
          <a:xfrm>
            <a:off x="688535" y="1487111"/>
            <a:ext cx="11250139" cy="2223545"/>
          </a:xfrm>
        </p:spPr>
        <p:txBody>
          <a:bodyPr vert="horz" lIns="91440" tIns="45720" rIns="91440" bIns="45720" rtlCol="0" anchor="t">
            <a:normAutofit/>
          </a:bodyPr>
          <a:lstStyle/>
          <a:p>
            <a:pPr marL="0" indent="0">
              <a:buNone/>
            </a:pPr>
            <a:r>
              <a:rPr lang="en-US">
                <a:cs typeface="Calibri"/>
              </a:rPr>
              <a:t>Example 1: Velocity Image Analysis</a:t>
            </a:r>
            <a:endParaRPr lang="en-US"/>
          </a:p>
          <a:p>
            <a:pPr marL="0" indent="0">
              <a:buNone/>
            </a:pPr>
            <a:r>
              <a:rPr lang="en-US">
                <a:cs typeface="Calibri"/>
              </a:rPr>
              <a:t>Target traits(Eating stage): </a:t>
            </a:r>
          </a:p>
          <a:p>
            <a:pPr marL="800100" lvl="1" indent="-342900">
              <a:buFont typeface="Arial,Sans-Serif"/>
              <a:buChar char="•"/>
            </a:pPr>
            <a:r>
              <a:rPr lang="en-US">
                <a:ea typeface="+mn-lt"/>
                <a:cs typeface="+mn-lt"/>
              </a:rPr>
              <a:t>Kernel depth</a:t>
            </a:r>
          </a:p>
          <a:p>
            <a:pPr marL="800100" lvl="1" indent="-342900">
              <a:buFont typeface="Arial"/>
              <a:buChar char="•"/>
            </a:pPr>
            <a:r>
              <a:rPr lang="en-US">
                <a:cs typeface="Calibri"/>
              </a:rPr>
              <a:t>Ear width, </a:t>
            </a:r>
          </a:p>
          <a:p>
            <a:pPr marL="800100" lvl="1" indent="-342900">
              <a:buFont typeface="Arial"/>
              <a:buChar char="•"/>
            </a:pPr>
            <a:r>
              <a:rPr lang="en-US">
                <a:cs typeface="Calibri"/>
              </a:rPr>
              <a:t>Cob diameter,</a:t>
            </a:r>
          </a:p>
          <a:p>
            <a:pPr marL="800100" lvl="1" indent="-342900">
              <a:buFont typeface="Arial"/>
              <a:buChar char="•"/>
            </a:pPr>
            <a:endParaRPr lang="en-US">
              <a:cs typeface="Calibri"/>
            </a:endParaRPr>
          </a:p>
          <a:p>
            <a:endParaRPr lang="en-US">
              <a:cs typeface="Calibri"/>
            </a:endParaRPr>
          </a:p>
        </p:txBody>
      </p:sp>
      <p:sp>
        <p:nvSpPr>
          <p:cNvPr id="10" name="Content Placeholder 3">
            <a:extLst>
              <a:ext uri="{FF2B5EF4-FFF2-40B4-BE49-F238E27FC236}">
                <a16:creationId xmlns:a16="http://schemas.microsoft.com/office/drawing/2014/main" id="{CFCB88DB-DB24-4344-8663-20E5115F243C}"/>
              </a:ext>
            </a:extLst>
          </p:cNvPr>
          <p:cNvSpPr txBox="1">
            <a:spLocks/>
          </p:cNvSpPr>
          <p:nvPr/>
        </p:nvSpPr>
        <p:spPr>
          <a:xfrm>
            <a:off x="679299" y="3971693"/>
            <a:ext cx="11515684" cy="2027272"/>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Tx/>
              <a:buBlip>
                <a:blip r:embed="rId2"/>
              </a:buBlip>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2"/>
              </a:buBlip>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Blip>
                <a:blip r:embed="rId2"/>
              </a:buBlip>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Blip>
                <a:blip r:embed="rId2"/>
              </a:buBlip>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cs typeface="Calibri"/>
              </a:rPr>
              <a:t>Example 2: Huxley Imager</a:t>
            </a:r>
          </a:p>
          <a:p>
            <a:pPr marL="0" indent="0">
              <a:buNone/>
            </a:pPr>
            <a:r>
              <a:rPr lang="en-US">
                <a:cs typeface="Calibri"/>
              </a:rPr>
              <a:t>Target traits (Dry down stage):</a:t>
            </a:r>
          </a:p>
          <a:p>
            <a:pPr marL="800100" lvl="1" indent="-342900">
              <a:buFont typeface="Arial,Sans-Serif"/>
              <a:buChar char="•"/>
            </a:pPr>
            <a:r>
              <a:rPr lang="en-US">
                <a:ea typeface="+mn-lt"/>
                <a:cs typeface="+mn-lt"/>
              </a:rPr>
              <a:t>Kernel depth</a:t>
            </a:r>
          </a:p>
          <a:p>
            <a:pPr marL="800100" lvl="1" indent="-342900">
              <a:buFont typeface="Arial"/>
              <a:buChar char="•"/>
            </a:pPr>
            <a:r>
              <a:rPr lang="en-US">
                <a:ea typeface="+mn-lt"/>
                <a:cs typeface="+mn-lt"/>
              </a:rPr>
              <a:t>Ear width, </a:t>
            </a:r>
            <a:endParaRPr lang="en-US"/>
          </a:p>
          <a:p>
            <a:pPr marL="800100" lvl="1" indent="-342900">
              <a:buFont typeface="Arial"/>
              <a:buChar char="•"/>
            </a:pPr>
            <a:r>
              <a:rPr lang="en-US">
                <a:ea typeface="+mn-lt"/>
                <a:cs typeface="+mn-lt"/>
              </a:rPr>
              <a:t>Cob diameter,</a:t>
            </a:r>
            <a:endParaRPr lang="en-US">
              <a:cs typeface="Calibri" panose="020F0502020204030204"/>
            </a:endParaRPr>
          </a:p>
        </p:txBody>
      </p:sp>
      <p:pic>
        <p:nvPicPr>
          <p:cNvPr id="12" name="Picture 12">
            <a:extLst>
              <a:ext uri="{FF2B5EF4-FFF2-40B4-BE49-F238E27FC236}">
                <a16:creationId xmlns:a16="http://schemas.microsoft.com/office/drawing/2014/main" id="{5B7D0A0B-B425-4C4A-8B93-DED6724827D5}"/>
              </a:ext>
            </a:extLst>
          </p:cNvPr>
          <p:cNvPicPr>
            <a:picLocks noChangeAspect="1"/>
          </p:cNvPicPr>
          <p:nvPr/>
        </p:nvPicPr>
        <p:blipFill>
          <a:blip r:embed="rId3"/>
          <a:stretch>
            <a:fillRect/>
          </a:stretch>
        </p:blipFill>
        <p:spPr>
          <a:xfrm>
            <a:off x="6303618" y="3918516"/>
            <a:ext cx="4929808" cy="2256706"/>
          </a:xfrm>
          <a:prstGeom prst="rect">
            <a:avLst/>
          </a:prstGeom>
        </p:spPr>
      </p:pic>
      <p:pic>
        <p:nvPicPr>
          <p:cNvPr id="13" name="Picture 13">
            <a:extLst>
              <a:ext uri="{FF2B5EF4-FFF2-40B4-BE49-F238E27FC236}">
                <a16:creationId xmlns:a16="http://schemas.microsoft.com/office/drawing/2014/main" id="{769AED7B-2085-4754-97D9-DA5D1B1F0AAF}"/>
              </a:ext>
            </a:extLst>
          </p:cNvPr>
          <p:cNvPicPr>
            <a:picLocks noChangeAspect="1"/>
          </p:cNvPicPr>
          <p:nvPr/>
        </p:nvPicPr>
        <p:blipFill>
          <a:blip r:embed="rId4"/>
          <a:stretch>
            <a:fillRect/>
          </a:stretch>
        </p:blipFill>
        <p:spPr>
          <a:xfrm rot="-5400000">
            <a:off x="6380922" y="1322475"/>
            <a:ext cx="2179983" cy="2589659"/>
          </a:xfrm>
          <a:prstGeom prst="rect">
            <a:avLst/>
          </a:prstGeom>
        </p:spPr>
      </p:pic>
      <p:pic>
        <p:nvPicPr>
          <p:cNvPr id="14" name="Picture 14">
            <a:extLst>
              <a:ext uri="{FF2B5EF4-FFF2-40B4-BE49-F238E27FC236}">
                <a16:creationId xmlns:a16="http://schemas.microsoft.com/office/drawing/2014/main" id="{DD9EE917-B91E-43F2-97FD-95A897BB8B30}"/>
              </a:ext>
            </a:extLst>
          </p:cNvPr>
          <p:cNvPicPr>
            <a:picLocks noChangeAspect="1"/>
          </p:cNvPicPr>
          <p:nvPr/>
        </p:nvPicPr>
        <p:blipFill>
          <a:blip r:embed="rId5"/>
          <a:stretch>
            <a:fillRect/>
          </a:stretch>
        </p:blipFill>
        <p:spPr>
          <a:xfrm>
            <a:off x="8821530" y="1516508"/>
            <a:ext cx="2765286" cy="2179505"/>
          </a:xfrm>
          <a:prstGeom prst="rect">
            <a:avLst/>
          </a:prstGeom>
        </p:spPr>
      </p:pic>
      <p:sp>
        <p:nvSpPr>
          <p:cNvPr id="15" name="TextBox 14">
            <a:extLst>
              <a:ext uri="{FF2B5EF4-FFF2-40B4-BE49-F238E27FC236}">
                <a16:creationId xmlns:a16="http://schemas.microsoft.com/office/drawing/2014/main" id="{1E98C671-D96F-4E83-9B01-605D9F8735F6}"/>
              </a:ext>
            </a:extLst>
          </p:cNvPr>
          <p:cNvSpPr txBox="1"/>
          <p:nvPr/>
        </p:nvSpPr>
        <p:spPr>
          <a:xfrm>
            <a:off x="6325704" y="1124225"/>
            <a:ext cx="52611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5">
                    <a:lumMod val="75000"/>
                  </a:schemeClr>
                </a:solidFill>
                <a:cs typeface="Calibri"/>
              </a:rPr>
              <a:t> </a:t>
            </a:r>
            <a:r>
              <a:rPr lang="en-US" b="1" dirty="0">
                <a:solidFill>
                  <a:schemeClr val="accent5">
                    <a:lumMod val="75000"/>
                  </a:schemeClr>
                </a:solidFill>
                <a:cs typeface="Calibri"/>
              </a:rPr>
              <a:t> 1. Ear sideways  2. Ear cross-sections</a:t>
            </a:r>
          </a:p>
        </p:txBody>
      </p:sp>
      <p:sp>
        <p:nvSpPr>
          <p:cNvPr id="16" name="TextBox 15">
            <a:extLst>
              <a:ext uri="{FF2B5EF4-FFF2-40B4-BE49-F238E27FC236}">
                <a16:creationId xmlns:a16="http://schemas.microsoft.com/office/drawing/2014/main" id="{EDF9267C-817A-4A62-82D5-45F3861E8614}"/>
              </a:ext>
            </a:extLst>
          </p:cNvPr>
          <p:cNvSpPr txBox="1"/>
          <p:nvPr/>
        </p:nvSpPr>
        <p:spPr>
          <a:xfrm>
            <a:off x="2835275" y="213953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lnSpc>
                <a:spcPct val="90000"/>
              </a:lnSpc>
              <a:spcBef>
                <a:spcPts val="500"/>
              </a:spcBef>
              <a:buFont typeface="Arial"/>
              <a:buChar char="•"/>
            </a:pPr>
            <a:endParaRPr lang="en-US" sz="2000">
              <a:cs typeface="Calibri"/>
            </a:endParaRPr>
          </a:p>
        </p:txBody>
      </p:sp>
    </p:spTree>
    <p:extLst>
      <p:ext uri="{BB962C8B-B14F-4D97-AF65-F5344CB8AC3E}">
        <p14:creationId xmlns:p14="http://schemas.microsoft.com/office/powerpoint/2010/main" val="311615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22579B70-E726-474C-AE68-62351B2029BA}"/>
              </a:ext>
            </a:extLst>
          </p:cNvPr>
          <p:cNvCxnSpPr>
            <a:cxnSpLocks/>
          </p:cNvCxnSpPr>
          <p:nvPr/>
        </p:nvCxnSpPr>
        <p:spPr>
          <a:xfrm>
            <a:off x="3573926" y="2632087"/>
            <a:ext cx="1024026" cy="286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B5D3814F-5D84-4895-80D7-5E061327E292}"/>
              </a:ext>
            </a:extLst>
          </p:cNvPr>
          <p:cNvSpPr>
            <a:spLocks noGrp="1"/>
          </p:cNvSpPr>
          <p:nvPr>
            <p:ph type="title"/>
          </p:nvPr>
        </p:nvSpPr>
        <p:spPr>
          <a:xfrm>
            <a:off x="905749" y="83849"/>
            <a:ext cx="8153715" cy="864000"/>
          </a:xfrm>
        </p:spPr>
        <p:txBody>
          <a:bodyPr>
            <a:normAutofit/>
          </a:bodyPr>
          <a:lstStyle/>
          <a:p>
            <a:r>
              <a:rPr lang="en-US" sz="4000" dirty="0">
                <a:latin typeface="Calibri"/>
                <a:cs typeface="Calibri"/>
              </a:rPr>
              <a:t>Impact</a:t>
            </a:r>
          </a:p>
        </p:txBody>
      </p:sp>
      <p:sp>
        <p:nvSpPr>
          <p:cNvPr id="5" name="Rectangle 4">
            <a:extLst>
              <a:ext uri="{FF2B5EF4-FFF2-40B4-BE49-F238E27FC236}">
                <a16:creationId xmlns:a16="http://schemas.microsoft.com/office/drawing/2014/main" id="{FFFCCF6D-ED55-4C81-9ACE-B64EC8D9E7C0}"/>
              </a:ext>
            </a:extLst>
          </p:cNvPr>
          <p:cNvSpPr/>
          <p:nvPr/>
        </p:nvSpPr>
        <p:spPr>
          <a:xfrm>
            <a:off x="5490706" y="3244334"/>
            <a:ext cx="1210588" cy="369332"/>
          </a:xfrm>
          <a:prstGeom prst="rect">
            <a:avLst/>
          </a:prstGeom>
        </p:spPr>
        <p:txBody>
          <a:bodyPr wrap="none">
            <a:spAutoFit/>
          </a:bodyPr>
          <a:lstStyle/>
          <a:p>
            <a:r>
              <a:rPr lang="en-US" i="1" dirty="0">
                <a:solidFill>
                  <a:srgbClr val="FFFFFF"/>
                </a:solidFill>
                <a:latin typeface="Arial"/>
                <a:ea typeface="Arial Unicode MS"/>
                <a:cs typeface="Arial"/>
              </a:rPr>
              <a:t>Prediction</a:t>
            </a:r>
            <a:endParaRPr lang="en-US" dirty="0"/>
          </a:p>
        </p:txBody>
      </p:sp>
      <p:pic>
        <p:nvPicPr>
          <p:cNvPr id="6" name="Picture 15" descr="Graphical user interface, table, Excel&#10;&#10;Description automatically generated">
            <a:extLst>
              <a:ext uri="{FF2B5EF4-FFF2-40B4-BE49-F238E27FC236}">
                <a16:creationId xmlns:a16="http://schemas.microsoft.com/office/drawing/2014/main" id="{DD23E4E4-C19A-4F28-BB16-887F67ADFCBE}"/>
              </a:ext>
            </a:extLst>
          </p:cNvPr>
          <p:cNvPicPr>
            <a:picLocks noChangeAspect="1"/>
          </p:cNvPicPr>
          <p:nvPr/>
        </p:nvPicPr>
        <p:blipFill rotWithShape="1">
          <a:blip r:embed="rId3"/>
          <a:srcRect l="59342" t="19039" b="-817"/>
          <a:stretch/>
        </p:blipFill>
        <p:spPr>
          <a:xfrm>
            <a:off x="7440453" y="330373"/>
            <a:ext cx="1763146" cy="1793167"/>
          </a:xfrm>
          <a:prstGeom prst="rect">
            <a:avLst/>
          </a:prstGeom>
        </p:spPr>
      </p:pic>
      <p:pic>
        <p:nvPicPr>
          <p:cNvPr id="7" name="Picture 6">
            <a:extLst>
              <a:ext uri="{FF2B5EF4-FFF2-40B4-BE49-F238E27FC236}">
                <a16:creationId xmlns:a16="http://schemas.microsoft.com/office/drawing/2014/main" id="{DE8B8BE0-894E-4702-A220-BD4D81293F7A}"/>
              </a:ext>
            </a:extLst>
          </p:cNvPr>
          <p:cNvPicPr>
            <a:picLocks noChangeAspect="1"/>
          </p:cNvPicPr>
          <p:nvPr/>
        </p:nvPicPr>
        <p:blipFill rotWithShape="1">
          <a:blip r:embed="rId4"/>
          <a:srcRect l="1759" t="3727" r="3360" b="4002"/>
          <a:stretch/>
        </p:blipFill>
        <p:spPr>
          <a:xfrm rot="16200000">
            <a:off x="7852277" y="2397221"/>
            <a:ext cx="1685664" cy="2018500"/>
          </a:xfrm>
          <a:prstGeom prst="rect">
            <a:avLst/>
          </a:prstGeom>
          <a:solidFill>
            <a:schemeClr val="tx1"/>
          </a:solidFill>
          <a:ln>
            <a:solidFill>
              <a:schemeClr val="accent1"/>
            </a:solidFill>
          </a:ln>
        </p:spPr>
      </p:pic>
      <p:sp>
        <p:nvSpPr>
          <p:cNvPr id="2" name="Oval 1">
            <a:extLst>
              <a:ext uri="{FF2B5EF4-FFF2-40B4-BE49-F238E27FC236}">
                <a16:creationId xmlns:a16="http://schemas.microsoft.com/office/drawing/2014/main" id="{2647FADF-FBDA-4EA1-8732-9E9A9FAAC211}"/>
              </a:ext>
            </a:extLst>
          </p:cNvPr>
          <p:cNvSpPr/>
          <p:nvPr/>
        </p:nvSpPr>
        <p:spPr>
          <a:xfrm>
            <a:off x="702399" y="1051796"/>
            <a:ext cx="2720852" cy="2374313"/>
          </a:xfrm>
          <a:prstGeom prst="ellipse">
            <a:avLst/>
          </a:prstGeom>
          <a:solidFill>
            <a:srgbClr val="7AC61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High throughput data collection</a:t>
            </a:r>
          </a:p>
          <a:p>
            <a:pPr algn="ctr"/>
            <a:endParaRPr lang="en-US" dirty="0">
              <a:solidFill>
                <a:srgbClr val="00B050"/>
              </a:solidFill>
            </a:endParaRPr>
          </a:p>
        </p:txBody>
      </p:sp>
      <p:sp>
        <p:nvSpPr>
          <p:cNvPr id="12" name="Oval 11">
            <a:extLst>
              <a:ext uri="{FF2B5EF4-FFF2-40B4-BE49-F238E27FC236}">
                <a16:creationId xmlns:a16="http://schemas.microsoft.com/office/drawing/2014/main" id="{82B1F99B-C6E6-4047-9DBF-6CEF720E930B}"/>
              </a:ext>
            </a:extLst>
          </p:cNvPr>
          <p:cNvSpPr/>
          <p:nvPr/>
        </p:nvSpPr>
        <p:spPr>
          <a:xfrm>
            <a:off x="4543646" y="94956"/>
            <a:ext cx="1917700" cy="1936234"/>
          </a:xfrm>
          <a:prstGeom prst="ellipse">
            <a:avLst/>
          </a:prstGeom>
          <a:solidFill>
            <a:srgbClr val="7AC61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Oval 12">
            <a:extLst>
              <a:ext uri="{FF2B5EF4-FFF2-40B4-BE49-F238E27FC236}">
                <a16:creationId xmlns:a16="http://schemas.microsoft.com/office/drawing/2014/main" id="{07BE2BAE-04DD-49BF-846B-B7EB603C227F}"/>
              </a:ext>
            </a:extLst>
          </p:cNvPr>
          <p:cNvSpPr/>
          <p:nvPr/>
        </p:nvSpPr>
        <p:spPr>
          <a:xfrm>
            <a:off x="5111758" y="2353439"/>
            <a:ext cx="1917700" cy="1936234"/>
          </a:xfrm>
          <a:prstGeom prst="ellipse">
            <a:avLst/>
          </a:prstGeom>
          <a:solidFill>
            <a:srgbClr val="7AC61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6" name="TextBox 15">
            <a:extLst>
              <a:ext uri="{FF2B5EF4-FFF2-40B4-BE49-F238E27FC236}">
                <a16:creationId xmlns:a16="http://schemas.microsoft.com/office/drawing/2014/main" id="{20E6B197-7F32-4366-B61F-8BEB454DBC57}"/>
              </a:ext>
            </a:extLst>
          </p:cNvPr>
          <p:cNvSpPr txBox="1"/>
          <p:nvPr/>
        </p:nvSpPr>
        <p:spPr>
          <a:xfrm>
            <a:off x="4687781" y="608425"/>
            <a:ext cx="1629429" cy="1015663"/>
          </a:xfrm>
          <a:prstGeom prst="rect">
            <a:avLst/>
          </a:prstGeom>
          <a:noFill/>
        </p:spPr>
        <p:txBody>
          <a:bodyPr wrap="square" rtlCol="0">
            <a:spAutoFit/>
          </a:bodyPr>
          <a:lstStyle/>
          <a:p>
            <a:pPr algn="ctr"/>
            <a:r>
              <a:rPr lang="en-US" sz="2000" dirty="0">
                <a:solidFill>
                  <a:schemeClr val="bg1"/>
                </a:solidFill>
              </a:rPr>
              <a:t>GWS predictive model</a:t>
            </a:r>
          </a:p>
        </p:txBody>
      </p:sp>
      <p:sp>
        <p:nvSpPr>
          <p:cNvPr id="17" name="TextBox 16">
            <a:extLst>
              <a:ext uri="{FF2B5EF4-FFF2-40B4-BE49-F238E27FC236}">
                <a16:creationId xmlns:a16="http://schemas.microsoft.com/office/drawing/2014/main" id="{7D683107-40A8-43E6-BF43-8E56564E4BBB}"/>
              </a:ext>
            </a:extLst>
          </p:cNvPr>
          <p:cNvSpPr txBox="1"/>
          <p:nvPr/>
        </p:nvSpPr>
        <p:spPr>
          <a:xfrm>
            <a:off x="5281285" y="2827618"/>
            <a:ext cx="1629429" cy="1015663"/>
          </a:xfrm>
          <a:prstGeom prst="rect">
            <a:avLst/>
          </a:prstGeom>
          <a:noFill/>
        </p:spPr>
        <p:txBody>
          <a:bodyPr wrap="square" rtlCol="0">
            <a:spAutoFit/>
          </a:bodyPr>
          <a:lstStyle/>
          <a:p>
            <a:pPr algn="ctr"/>
            <a:r>
              <a:rPr lang="en-US" sz="2000" dirty="0">
                <a:solidFill>
                  <a:schemeClr val="bg1"/>
                </a:solidFill>
              </a:rPr>
              <a:t>Velocity Image Analysis</a:t>
            </a:r>
          </a:p>
        </p:txBody>
      </p:sp>
      <p:cxnSp>
        <p:nvCxnSpPr>
          <p:cNvPr id="19" name="Straight Arrow Connector 18">
            <a:extLst>
              <a:ext uri="{FF2B5EF4-FFF2-40B4-BE49-F238E27FC236}">
                <a16:creationId xmlns:a16="http://schemas.microsoft.com/office/drawing/2014/main" id="{2C5BECC8-330D-4ECB-B8E7-3CEEB90A50CD}"/>
              </a:ext>
            </a:extLst>
          </p:cNvPr>
          <p:cNvCxnSpPr>
            <a:cxnSpLocks/>
          </p:cNvCxnSpPr>
          <p:nvPr/>
        </p:nvCxnSpPr>
        <p:spPr>
          <a:xfrm flipV="1">
            <a:off x="3475153" y="1355077"/>
            <a:ext cx="934287" cy="216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393231A7-FEBB-45E2-87CD-6A75B7C94AD4}"/>
              </a:ext>
            </a:extLst>
          </p:cNvPr>
          <p:cNvSpPr/>
          <p:nvPr/>
        </p:nvSpPr>
        <p:spPr>
          <a:xfrm>
            <a:off x="3043383" y="3613668"/>
            <a:ext cx="1917700" cy="1936234"/>
          </a:xfrm>
          <a:prstGeom prst="ellipse">
            <a:avLst/>
          </a:prstGeom>
          <a:solidFill>
            <a:srgbClr val="7AC61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bg1"/>
                </a:solidFill>
                <a:latin typeface="Arial"/>
                <a:ea typeface="Arial Unicode MS"/>
                <a:cs typeface="Arial"/>
              </a:rPr>
              <a:t>BLUP</a:t>
            </a:r>
            <a:endParaRPr lang="en-US" dirty="0">
              <a:solidFill>
                <a:srgbClr val="00B050"/>
              </a:solidFill>
            </a:endParaRPr>
          </a:p>
        </p:txBody>
      </p:sp>
      <p:cxnSp>
        <p:nvCxnSpPr>
          <p:cNvPr id="31" name="Straight Arrow Connector 30">
            <a:extLst>
              <a:ext uri="{FF2B5EF4-FFF2-40B4-BE49-F238E27FC236}">
                <a16:creationId xmlns:a16="http://schemas.microsoft.com/office/drawing/2014/main" id="{61D45D4D-25D8-4654-9BE6-564886EFDC52}"/>
              </a:ext>
            </a:extLst>
          </p:cNvPr>
          <p:cNvCxnSpPr>
            <a:cxnSpLocks/>
          </p:cNvCxnSpPr>
          <p:nvPr/>
        </p:nvCxnSpPr>
        <p:spPr>
          <a:xfrm>
            <a:off x="2933027" y="3321556"/>
            <a:ext cx="466117" cy="380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07" name="Picture 4106">
            <a:extLst>
              <a:ext uri="{FF2B5EF4-FFF2-40B4-BE49-F238E27FC236}">
                <a16:creationId xmlns:a16="http://schemas.microsoft.com/office/drawing/2014/main" id="{8F0816BB-1C16-4D18-84FF-C5E176AC6AAA}"/>
              </a:ext>
            </a:extLst>
          </p:cNvPr>
          <p:cNvPicPr>
            <a:picLocks noChangeAspect="1"/>
          </p:cNvPicPr>
          <p:nvPr/>
        </p:nvPicPr>
        <p:blipFill>
          <a:blip r:embed="rId5"/>
          <a:stretch>
            <a:fillRect/>
          </a:stretch>
        </p:blipFill>
        <p:spPr>
          <a:xfrm>
            <a:off x="5816838" y="4664004"/>
            <a:ext cx="3386761" cy="2168597"/>
          </a:xfrm>
          <a:prstGeom prst="rect">
            <a:avLst/>
          </a:prstGeom>
        </p:spPr>
      </p:pic>
    </p:spTree>
    <p:extLst>
      <p:ext uri="{BB962C8B-B14F-4D97-AF65-F5344CB8AC3E}">
        <p14:creationId xmlns:p14="http://schemas.microsoft.com/office/powerpoint/2010/main" val="493276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ihandform: Form 116">
            <a:extLst>
              <a:ext uri="{FF2B5EF4-FFF2-40B4-BE49-F238E27FC236}">
                <a16:creationId xmlns:a16="http://schemas.microsoft.com/office/drawing/2014/main" id="{1F95E633-474C-4F97-A214-E6D277CA27AE}"/>
              </a:ext>
            </a:extLst>
          </p:cNvPr>
          <p:cNvSpPr/>
          <p:nvPr/>
        </p:nvSpPr>
        <p:spPr bwMode="gray">
          <a:xfrm flipH="1" flipV="1">
            <a:off x="410183" y="1390295"/>
            <a:ext cx="7698766" cy="5285141"/>
          </a:xfrm>
          <a:custGeom>
            <a:avLst/>
            <a:gdLst>
              <a:gd name="connsiteX0" fmla="*/ 0 w 8786683"/>
              <a:gd name="connsiteY0" fmla="*/ 0 h 4755356"/>
              <a:gd name="connsiteX1" fmla="*/ 342921 w 8786683"/>
              <a:gd name="connsiteY1" fmla="*/ 0 h 4755356"/>
              <a:gd name="connsiteX2" fmla="*/ 2328529 w 8786683"/>
              <a:gd name="connsiteY2" fmla="*/ 0 h 4755356"/>
              <a:gd name="connsiteX3" fmla="*/ 2671450 w 8786683"/>
              <a:gd name="connsiteY3" fmla="*/ 0 h 4755356"/>
              <a:gd name="connsiteX4" fmla="*/ 4811662 w 8786683"/>
              <a:gd name="connsiteY4" fmla="*/ 0 h 4755356"/>
              <a:gd name="connsiteX5" fmla="*/ 5154583 w 8786683"/>
              <a:gd name="connsiteY5" fmla="*/ 0 h 4755356"/>
              <a:gd name="connsiteX6" fmla="*/ 6115233 w 8786683"/>
              <a:gd name="connsiteY6" fmla="*/ 0 h 4755356"/>
              <a:gd name="connsiteX7" fmla="*/ 6458154 w 8786683"/>
              <a:gd name="connsiteY7" fmla="*/ 0 h 4755356"/>
              <a:gd name="connsiteX8" fmla="*/ 7140191 w 8786683"/>
              <a:gd name="connsiteY8" fmla="*/ 0 h 4755356"/>
              <a:gd name="connsiteX9" fmla="*/ 7483112 w 8786683"/>
              <a:gd name="connsiteY9" fmla="*/ 0 h 4755356"/>
              <a:gd name="connsiteX10" fmla="*/ 8443762 w 8786683"/>
              <a:gd name="connsiteY10" fmla="*/ 0 h 4755356"/>
              <a:gd name="connsiteX11" fmla="*/ 8786683 w 8786683"/>
              <a:gd name="connsiteY11" fmla="*/ 0 h 4755356"/>
              <a:gd name="connsiteX12" fmla="*/ 7597844 w 8786683"/>
              <a:gd name="connsiteY12" fmla="*/ 4755356 h 4755356"/>
              <a:gd name="connsiteX13" fmla="*/ 7254923 w 8786683"/>
              <a:gd name="connsiteY13" fmla="*/ 4755356 h 4755356"/>
              <a:gd name="connsiteX14" fmla="*/ 6294273 w 8786683"/>
              <a:gd name="connsiteY14" fmla="*/ 4755356 h 4755356"/>
              <a:gd name="connsiteX15" fmla="*/ 5951352 w 8786683"/>
              <a:gd name="connsiteY15" fmla="*/ 4755356 h 4755356"/>
              <a:gd name="connsiteX16" fmla="*/ 5269315 w 8786683"/>
              <a:gd name="connsiteY16" fmla="*/ 4755356 h 4755356"/>
              <a:gd name="connsiteX17" fmla="*/ 4926394 w 8786683"/>
              <a:gd name="connsiteY17" fmla="*/ 4755356 h 4755356"/>
              <a:gd name="connsiteX18" fmla="*/ 3965744 w 8786683"/>
              <a:gd name="connsiteY18" fmla="*/ 4755356 h 4755356"/>
              <a:gd name="connsiteX19" fmla="*/ 3622823 w 8786683"/>
              <a:gd name="connsiteY19" fmla="*/ 4755356 h 4755356"/>
              <a:gd name="connsiteX20" fmla="*/ 2671450 w 8786683"/>
              <a:gd name="connsiteY20" fmla="*/ 4755356 h 4755356"/>
              <a:gd name="connsiteX21" fmla="*/ 2328529 w 8786683"/>
              <a:gd name="connsiteY21" fmla="*/ 4755356 h 4755356"/>
              <a:gd name="connsiteX22" fmla="*/ 342921 w 8786683"/>
              <a:gd name="connsiteY22" fmla="*/ 4755356 h 4755356"/>
              <a:gd name="connsiteX23" fmla="*/ 0 w 8786683"/>
              <a:gd name="connsiteY23" fmla="*/ 4755356 h 475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786683" h="4755356">
                <a:moveTo>
                  <a:pt x="0" y="0"/>
                </a:moveTo>
                <a:lnTo>
                  <a:pt x="342921" y="0"/>
                </a:lnTo>
                <a:lnTo>
                  <a:pt x="2328529" y="0"/>
                </a:lnTo>
                <a:lnTo>
                  <a:pt x="2671450" y="0"/>
                </a:lnTo>
                <a:lnTo>
                  <a:pt x="4811662" y="0"/>
                </a:lnTo>
                <a:lnTo>
                  <a:pt x="5154583" y="0"/>
                </a:lnTo>
                <a:lnTo>
                  <a:pt x="6115233" y="0"/>
                </a:lnTo>
                <a:lnTo>
                  <a:pt x="6458154" y="0"/>
                </a:lnTo>
                <a:lnTo>
                  <a:pt x="7140191" y="0"/>
                </a:lnTo>
                <a:lnTo>
                  <a:pt x="7483112" y="0"/>
                </a:lnTo>
                <a:lnTo>
                  <a:pt x="8443762" y="0"/>
                </a:lnTo>
                <a:lnTo>
                  <a:pt x="8786683" y="0"/>
                </a:lnTo>
                <a:lnTo>
                  <a:pt x="7597844" y="4755356"/>
                </a:lnTo>
                <a:lnTo>
                  <a:pt x="7254923" y="4755356"/>
                </a:lnTo>
                <a:lnTo>
                  <a:pt x="6294273" y="4755356"/>
                </a:lnTo>
                <a:lnTo>
                  <a:pt x="5951352" y="4755356"/>
                </a:lnTo>
                <a:lnTo>
                  <a:pt x="5269315" y="4755356"/>
                </a:lnTo>
                <a:lnTo>
                  <a:pt x="4926394" y="4755356"/>
                </a:lnTo>
                <a:lnTo>
                  <a:pt x="3965744" y="4755356"/>
                </a:lnTo>
                <a:lnTo>
                  <a:pt x="3622823" y="4755356"/>
                </a:lnTo>
                <a:lnTo>
                  <a:pt x="2671450" y="4755356"/>
                </a:lnTo>
                <a:lnTo>
                  <a:pt x="2328529" y="4755356"/>
                </a:lnTo>
                <a:lnTo>
                  <a:pt x="342921" y="4755356"/>
                </a:lnTo>
                <a:lnTo>
                  <a:pt x="0" y="4755356"/>
                </a:lnTo>
                <a:close/>
              </a:path>
            </a:pathLst>
          </a:custGeom>
          <a:solidFill>
            <a:srgbClr val="00B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solidFill>
                <a:srgbClr val="FFFFFF"/>
              </a:solidFill>
              <a:latin typeface="Arial" panose="020B0604020202020204" pitchFamily="34" charset="0"/>
            </a:endParaRPr>
          </a:p>
        </p:txBody>
      </p:sp>
      <p:sp>
        <p:nvSpPr>
          <p:cNvPr id="2" name="Subtitle 1">
            <a:extLst>
              <a:ext uri="{FF2B5EF4-FFF2-40B4-BE49-F238E27FC236}">
                <a16:creationId xmlns:a16="http://schemas.microsoft.com/office/drawing/2014/main" id="{7CDCDD5A-6787-4DF1-B2C6-8A7F858DC67A}"/>
              </a:ext>
            </a:extLst>
          </p:cNvPr>
          <p:cNvSpPr>
            <a:spLocks noGrp="1"/>
          </p:cNvSpPr>
          <p:nvPr>
            <p:ph type="subTitle" idx="13"/>
          </p:nvPr>
        </p:nvSpPr>
        <p:spPr/>
        <p:txBody>
          <a:bodyPr>
            <a:normAutofit fontScale="77500" lnSpcReduction="20000"/>
          </a:bodyPr>
          <a:lstStyle/>
          <a:p>
            <a:endParaRPr lang="en-US"/>
          </a:p>
        </p:txBody>
      </p:sp>
      <p:sp>
        <p:nvSpPr>
          <p:cNvPr id="4" name="Content Placeholder 3">
            <a:extLst>
              <a:ext uri="{FF2B5EF4-FFF2-40B4-BE49-F238E27FC236}">
                <a16:creationId xmlns:a16="http://schemas.microsoft.com/office/drawing/2014/main" id="{07FBF0BE-E7E2-46EE-B22B-71B74006086A}"/>
              </a:ext>
            </a:extLst>
          </p:cNvPr>
          <p:cNvSpPr>
            <a:spLocks noGrp="1"/>
          </p:cNvSpPr>
          <p:nvPr>
            <p:ph sz="quarter" idx="14"/>
          </p:nvPr>
        </p:nvSpPr>
        <p:spPr>
          <a:xfrm>
            <a:off x="1551291" y="1923438"/>
            <a:ext cx="4949215" cy="4751999"/>
          </a:xfrm>
        </p:spPr>
        <p:txBody>
          <a:bodyPr/>
          <a:lstStyle/>
          <a:p>
            <a:pPr marL="0" indent="0">
              <a:buNone/>
            </a:pPr>
            <a:r>
              <a:rPr lang="en-US" dirty="0">
                <a:solidFill>
                  <a:schemeClr val="bg1"/>
                </a:solidFill>
                <a:latin typeface="Arial"/>
                <a:cs typeface="Arial"/>
              </a:rPr>
              <a:t>We are leveraging technology </a:t>
            </a:r>
            <a:br>
              <a:rPr lang="en-US" dirty="0">
                <a:solidFill>
                  <a:schemeClr val="bg1"/>
                </a:solidFill>
                <a:latin typeface="Arial"/>
                <a:cs typeface="Arial"/>
              </a:rPr>
            </a:br>
            <a:r>
              <a:rPr lang="en-US" dirty="0">
                <a:solidFill>
                  <a:schemeClr val="bg1"/>
                </a:solidFill>
                <a:latin typeface="Arial"/>
                <a:cs typeface="Arial"/>
              </a:rPr>
              <a:t>to refine our internal operations, which in turn inspires greater innovation, faster-delivered products, increased sustainability and improved </a:t>
            </a:r>
            <a:r>
              <a:rPr lang="en-US" b="1" dirty="0">
                <a:solidFill>
                  <a:schemeClr val="bg1"/>
                </a:solidFill>
                <a:latin typeface="Arial"/>
                <a:cs typeface="Arial"/>
              </a:rPr>
              <a:t>results for our customers.</a:t>
            </a:r>
          </a:p>
          <a:p>
            <a:endParaRPr lang="en-US" dirty="0"/>
          </a:p>
        </p:txBody>
      </p:sp>
      <p:sp>
        <p:nvSpPr>
          <p:cNvPr id="5" name="Title 2">
            <a:extLst>
              <a:ext uri="{FF2B5EF4-FFF2-40B4-BE49-F238E27FC236}">
                <a16:creationId xmlns:a16="http://schemas.microsoft.com/office/drawing/2014/main" id="{1CEC6BE7-A819-4D1F-A315-CEB7B673617E}"/>
              </a:ext>
            </a:extLst>
          </p:cNvPr>
          <p:cNvSpPr>
            <a:spLocks noGrp="1"/>
          </p:cNvSpPr>
          <p:nvPr>
            <p:ph type="title"/>
          </p:nvPr>
        </p:nvSpPr>
        <p:spPr>
          <a:xfrm>
            <a:off x="982663" y="182563"/>
            <a:ext cx="8153400" cy="863600"/>
          </a:xfrm>
        </p:spPr>
        <p:txBody>
          <a:bodyPr>
            <a:normAutofit/>
          </a:bodyPr>
          <a:lstStyle/>
          <a:p>
            <a:r>
              <a:rPr lang="en-US" sz="4000" dirty="0">
                <a:latin typeface="Calibri"/>
                <a:cs typeface="Calibri"/>
              </a:rPr>
              <a:t>The benefit</a:t>
            </a:r>
          </a:p>
        </p:txBody>
      </p:sp>
      <p:pic>
        <p:nvPicPr>
          <p:cNvPr id="8" name="Picture 7">
            <a:extLst>
              <a:ext uri="{FF2B5EF4-FFF2-40B4-BE49-F238E27FC236}">
                <a16:creationId xmlns:a16="http://schemas.microsoft.com/office/drawing/2014/main" id="{902FF1AC-9ECC-4352-9B66-C596E1BA49A5}"/>
              </a:ext>
            </a:extLst>
          </p:cNvPr>
          <p:cNvPicPr>
            <a:picLocks noChangeAspect="1"/>
          </p:cNvPicPr>
          <p:nvPr/>
        </p:nvPicPr>
        <p:blipFill>
          <a:blip r:embed="rId2"/>
          <a:stretch>
            <a:fillRect/>
          </a:stretch>
        </p:blipFill>
        <p:spPr>
          <a:xfrm>
            <a:off x="6682766" y="1402115"/>
            <a:ext cx="3820134" cy="5273322"/>
          </a:xfrm>
          <a:prstGeom prst="rect">
            <a:avLst/>
          </a:prstGeom>
        </p:spPr>
      </p:pic>
    </p:spTree>
    <p:extLst>
      <p:ext uri="{BB962C8B-B14F-4D97-AF65-F5344CB8AC3E}">
        <p14:creationId xmlns:p14="http://schemas.microsoft.com/office/powerpoint/2010/main" val="3438125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4D054E-1028-4B4C-A1C5-E192EFFC035B}"/>
              </a:ext>
            </a:extLst>
          </p:cNvPr>
          <p:cNvSpPr>
            <a:spLocks noGrp="1"/>
          </p:cNvSpPr>
          <p:nvPr>
            <p:ph type="title"/>
          </p:nvPr>
        </p:nvSpPr>
        <p:spPr/>
        <p:txBody>
          <a:bodyPr/>
          <a:lstStyle/>
          <a:p>
            <a:r>
              <a:rPr lang="en-US" dirty="0"/>
              <a:t>One Team</a:t>
            </a:r>
          </a:p>
        </p:txBody>
      </p:sp>
      <p:sp>
        <p:nvSpPr>
          <p:cNvPr id="4" name="Content Placeholder 3">
            <a:extLst>
              <a:ext uri="{FF2B5EF4-FFF2-40B4-BE49-F238E27FC236}">
                <a16:creationId xmlns:a16="http://schemas.microsoft.com/office/drawing/2014/main" id="{B65BBE50-9622-4713-A7EE-4DDE6941776E}"/>
              </a:ext>
            </a:extLst>
          </p:cNvPr>
          <p:cNvSpPr>
            <a:spLocks noGrp="1"/>
          </p:cNvSpPr>
          <p:nvPr>
            <p:ph sz="quarter" idx="14"/>
          </p:nvPr>
        </p:nvSpPr>
        <p:spPr>
          <a:xfrm>
            <a:off x="917683" y="1184202"/>
            <a:ext cx="10945009" cy="4751999"/>
          </a:xfrm>
        </p:spPr>
        <p:txBody>
          <a:bodyPr vert="horz" lIns="91440" tIns="45720" rIns="91440" bIns="45720" rtlCol="0" anchor="t">
            <a:normAutofit fontScale="92500" lnSpcReduction="10000"/>
          </a:bodyPr>
          <a:lstStyle/>
          <a:p>
            <a:pPr marL="0" indent="0">
              <a:buNone/>
            </a:pPr>
            <a:endParaRPr lang="pt-BR" sz="2400"/>
          </a:p>
          <a:p>
            <a:r>
              <a:rPr lang="pt-BR" sz="2400" b="1" err="1"/>
              <a:t>Breeding</a:t>
            </a:r>
            <a:endParaRPr lang="pt-BR" sz="2400" b="1"/>
          </a:p>
          <a:p>
            <a:pPr marL="0" indent="0">
              <a:buNone/>
            </a:pPr>
            <a:r>
              <a:rPr lang="pt-BR" sz="2400" dirty="0"/>
              <a:t>Sarah Braun (</a:t>
            </a:r>
            <a:r>
              <a:rPr lang="pt-BR" sz="2400" dirty="0" err="1"/>
              <a:t>DeForest</a:t>
            </a:r>
            <a:r>
              <a:rPr lang="pt-BR" sz="2400" dirty="0"/>
              <a:t>/WI, USA – </a:t>
            </a:r>
            <a:r>
              <a:rPr lang="pt-BR" sz="2400" dirty="0" err="1"/>
              <a:t>Line</a:t>
            </a:r>
            <a:r>
              <a:rPr lang="pt-BR" sz="2400" dirty="0"/>
              <a:t> </a:t>
            </a:r>
            <a:r>
              <a:rPr lang="pt-BR" sz="2400" dirty="0" err="1"/>
              <a:t>Temperate</a:t>
            </a:r>
            <a:r>
              <a:rPr lang="pt-BR" sz="2400" dirty="0"/>
              <a:t> Sweet </a:t>
            </a:r>
            <a:r>
              <a:rPr lang="pt-BR" sz="2400" dirty="0" err="1"/>
              <a:t>Corn</a:t>
            </a:r>
            <a:r>
              <a:rPr lang="pt-BR" sz="2400" dirty="0"/>
              <a:t> </a:t>
            </a:r>
            <a:r>
              <a:rPr lang="pt-BR" sz="2400" dirty="0" err="1"/>
              <a:t>Breeder</a:t>
            </a:r>
            <a:r>
              <a:rPr lang="pt-BR" sz="2400" dirty="0"/>
              <a:t>)</a:t>
            </a:r>
          </a:p>
          <a:p>
            <a:pPr marL="0" indent="0">
              <a:buNone/>
            </a:pPr>
            <a:r>
              <a:rPr lang="pt-BR" sz="2400" dirty="0"/>
              <a:t>Mariana </a:t>
            </a:r>
            <a:r>
              <a:rPr lang="pt-BR" sz="2400" dirty="0" err="1"/>
              <a:t>Niederheitmann</a:t>
            </a:r>
            <a:r>
              <a:rPr lang="pt-BR" sz="2400" dirty="0"/>
              <a:t> (Uberlândia/MG, </a:t>
            </a:r>
            <a:r>
              <a:rPr lang="pt-BR" sz="2400" dirty="0" err="1"/>
              <a:t>Brazil</a:t>
            </a:r>
            <a:r>
              <a:rPr lang="pt-BR" sz="2400" dirty="0"/>
              <a:t> - </a:t>
            </a:r>
            <a:r>
              <a:rPr lang="pt-BR" sz="2400" dirty="0" err="1"/>
              <a:t>Breeding</a:t>
            </a:r>
            <a:r>
              <a:rPr lang="pt-BR" sz="2400" dirty="0"/>
              <a:t> </a:t>
            </a:r>
            <a:r>
              <a:rPr lang="pt-BR" sz="2400" dirty="0" err="1"/>
              <a:t>Scientist</a:t>
            </a:r>
            <a:r>
              <a:rPr lang="pt-BR" sz="2400" dirty="0"/>
              <a:t>)</a:t>
            </a:r>
          </a:p>
          <a:p>
            <a:pPr marL="0" indent="0">
              <a:buNone/>
            </a:pPr>
            <a:r>
              <a:rPr lang="pt-BR" sz="2400" dirty="0"/>
              <a:t>Jennifer Jacobs (</a:t>
            </a:r>
            <a:r>
              <a:rPr lang="pt-BR" sz="2400" dirty="0" err="1"/>
              <a:t>Chesterfield</a:t>
            </a:r>
            <a:r>
              <a:rPr lang="pt-BR" sz="2400" dirty="0"/>
              <a:t>/MI, USA – </a:t>
            </a:r>
            <a:r>
              <a:rPr lang="pt-BR" sz="2400" dirty="0" err="1"/>
              <a:t>America´s</a:t>
            </a:r>
            <a:r>
              <a:rPr lang="pt-BR" sz="2400" dirty="0"/>
              <a:t> </a:t>
            </a:r>
            <a:r>
              <a:rPr lang="pt-BR" sz="2400" dirty="0" err="1"/>
              <a:t>Breeding</a:t>
            </a:r>
            <a:r>
              <a:rPr lang="pt-BR" sz="2400" dirty="0"/>
              <a:t> Lead – </a:t>
            </a:r>
            <a:r>
              <a:rPr lang="pt-BR" sz="2400" dirty="0" err="1"/>
              <a:t>Large</a:t>
            </a:r>
            <a:r>
              <a:rPr lang="pt-BR" sz="2400" dirty="0"/>
              <a:t> </a:t>
            </a:r>
            <a:r>
              <a:rPr lang="pt-BR" sz="2400" dirty="0" err="1"/>
              <a:t>Seed</a:t>
            </a:r>
            <a:r>
              <a:rPr lang="pt-BR" sz="2400" dirty="0"/>
              <a:t>, Root, </a:t>
            </a:r>
            <a:r>
              <a:rPr lang="pt-BR" sz="2400" dirty="0" err="1"/>
              <a:t>and</a:t>
            </a:r>
            <a:r>
              <a:rPr lang="pt-BR" sz="2400" dirty="0"/>
              <a:t> </a:t>
            </a:r>
            <a:r>
              <a:rPr lang="pt-BR" sz="2400" dirty="0" err="1"/>
              <a:t>Bulb</a:t>
            </a:r>
            <a:r>
              <a:rPr lang="pt-BR" sz="2400" dirty="0"/>
              <a:t>)</a:t>
            </a:r>
          </a:p>
          <a:p>
            <a:pPr marL="0" indent="0">
              <a:buNone/>
            </a:pPr>
            <a:r>
              <a:rPr lang="pt-BR" sz="2400" dirty="0">
                <a:cs typeface="Calibri"/>
              </a:rPr>
              <a:t>Kyle </a:t>
            </a:r>
            <a:r>
              <a:rPr lang="pt-BR" sz="2400" dirty="0" err="1">
                <a:cs typeface="Calibri"/>
              </a:rPr>
              <a:t>Parmley</a:t>
            </a:r>
            <a:r>
              <a:rPr lang="pt-BR" sz="2400" dirty="0">
                <a:cs typeface="Calibri"/>
              </a:rPr>
              <a:t> (</a:t>
            </a:r>
            <a:r>
              <a:rPr lang="pt-BR" sz="2400" dirty="0" err="1">
                <a:cs typeface="Calibri"/>
              </a:rPr>
              <a:t>Woodland</a:t>
            </a:r>
            <a:r>
              <a:rPr lang="pt-BR" sz="2400" dirty="0">
                <a:cs typeface="Calibri"/>
              </a:rPr>
              <a:t>/CA- </a:t>
            </a:r>
            <a:r>
              <a:rPr lang="pt-BR" sz="2400" dirty="0" err="1">
                <a:cs typeface="Calibri"/>
              </a:rPr>
              <a:t>Breeding</a:t>
            </a:r>
            <a:r>
              <a:rPr lang="pt-BR" sz="2400" dirty="0">
                <a:cs typeface="Calibri"/>
              </a:rPr>
              <a:t> mentor)</a:t>
            </a:r>
          </a:p>
          <a:p>
            <a:pPr marL="0" indent="0">
              <a:buNone/>
            </a:pPr>
            <a:endParaRPr lang="pt-BR" sz="2400" b="1"/>
          </a:p>
          <a:p>
            <a:r>
              <a:rPr lang="pt-BR" sz="2400" b="1" dirty="0" err="1"/>
              <a:t>Analytics</a:t>
            </a:r>
            <a:r>
              <a:rPr lang="pt-BR" sz="2400" b="1" dirty="0"/>
              <a:t> </a:t>
            </a:r>
            <a:r>
              <a:rPr lang="pt-BR" sz="2400" b="1" dirty="0" err="1"/>
              <a:t>and</a:t>
            </a:r>
            <a:r>
              <a:rPr lang="pt-BR" sz="2400" b="1" dirty="0"/>
              <a:t> Pipeline Design</a:t>
            </a:r>
          </a:p>
          <a:p>
            <a:pPr marL="0" indent="0">
              <a:buNone/>
            </a:pPr>
            <a:r>
              <a:rPr lang="pt-BR" sz="2400" dirty="0"/>
              <a:t>Chad </a:t>
            </a:r>
            <a:r>
              <a:rPr lang="pt-BR" sz="2400" dirty="0" err="1"/>
              <a:t>Jorgensen</a:t>
            </a:r>
            <a:r>
              <a:rPr lang="pt-BR" sz="2400" dirty="0"/>
              <a:t> (</a:t>
            </a:r>
            <a:r>
              <a:rPr lang="pt-BR" sz="2400" dirty="0" err="1"/>
              <a:t>Woodland</a:t>
            </a:r>
            <a:r>
              <a:rPr lang="pt-BR" sz="2400" dirty="0"/>
              <a:t>/CA, USA – </a:t>
            </a:r>
            <a:r>
              <a:rPr lang="en-US" sz="2400" dirty="0"/>
              <a:t>Experiments and Trials Digital Specialist – Analysis and Decisions)</a:t>
            </a:r>
          </a:p>
          <a:p>
            <a:pPr marL="0" indent="0">
              <a:buNone/>
            </a:pPr>
            <a:r>
              <a:rPr lang="en-US" sz="2400" dirty="0"/>
              <a:t>Barret Page (Deforest/WI,USA - Pipeline Enablement East)</a:t>
            </a:r>
          </a:p>
          <a:p>
            <a:pPr marL="0" indent="0">
              <a:buNone/>
            </a:pPr>
            <a:r>
              <a:rPr lang="en-US" sz="2400" dirty="0"/>
              <a:t>Zach Njus (Huxley/IA, USA- Agronomy Research Specialist-Seed production System)</a:t>
            </a:r>
          </a:p>
          <a:p>
            <a:pPr marL="0" indent="0">
              <a:buNone/>
            </a:pPr>
            <a:endParaRPr lang="en-US"/>
          </a:p>
        </p:txBody>
      </p:sp>
    </p:spTree>
    <p:extLst>
      <p:ext uri="{BB962C8B-B14F-4D97-AF65-F5344CB8AC3E}">
        <p14:creationId xmlns:p14="http://schemas.microsoft.com/office/powerpoint/2010/main" val="57837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1FF54AC823124CB86B5F60EEF86D19" ma:contentTypeVersion="13" ma:contentTypeDescription="Create a new document." ma:contentTypeScope="" ma:versionID="1e4f76c149456d05fab654597ee907c6">
  <xsd:schema xmlns:xsd="http://www.w3.org/2001/XMLSchema" xmlns:xs="http://www.w3.org/2001/XMLSchema" xmlns:p="http://schemas.microsoft.com/office/2006/metadata/properties" xmlns:ns3="6b9aa530-b8d5-4916-8d28-907034b5d0fe" xmlns:ns4="71a3c421-9416-4d11-a901-8771c920f40d" targetNamespace="http://schemas.microsoft.com/office/2006/metadata/properties" ma:root="true" ma:fieldsID="aee940da5c1b4258beb5081d398b0f5a" ns3:_="" ns4:_="">
    <xsd:import namespace="6b9aa530-b8d5-4916-8d28-907034b5d0fe"/>
    <xsd:import namespace="71a3c421-9416-4d11-a901-8771c920f40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9aa530-b8d5-4916-8d28-907034b5d0f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3c421-9416-4d11-a901-8771c920f40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844A74-8EE6-4B5D-B5C5-0024E22BC430}">
  <ds:schemaRefs>
    <ds:schemaRef ds:uri="6b9aa530-b8d5-4916-8d28-907034b5d0fe"/>
    <ds:schemaRef ds:uri="71a3c421-9416-4d11-a901-8771c920f4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409EA8E-3FB7-4DF1-806A-5127B300EC82}">
  <ds:schemaRefs>
    <ds:schemaRef ds:uri="http://schemas.microsoft.com/sharepoint/v3/contenttype/forms"/>
  </ds:schemaRefs>
</ds:datastoreItem>
</file>

<file path=customXml/itemProps3.xml><?xml version="1.0" encoding="utf-8"?>
<ds:datastoreItem xmlns:ds="http://schemas.openxmlformats.org/officeDocument/2006/customXml" ds:itemID="{07EBC077-A33B-4D1D-858C-5603FAEC5302}">
  <ds:schemaRefs>
    <ds:schemaRef ds:uri="http://schemas.microsoft.com/office/2006/documentManagement/types"/>
    <ds:schemaRef ds:uri="71a3c421-9416-4d11-a901-8771c920f40d"/>
    <ds:schemaRef ds:uri="http://schemas.openxmlformats.org/package/2006/metadata/core-properties"/>
    <ds:schemaRef ds:uri="6b9aa530-b8d5-4916-8d28-907034b5d0fe"/>
    <ds:schemaRef ds:uri="http://purl.org/dc/elements/1.1/"/>
    <ds:schemaRef ds:uri="http://schemas.microsoft.com/office/2006/metadata/properties"/>
    <ds:schemaRef ds:uri="http://purl.org/dc/term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1772</TotalTime>
  <Words>783</Words>
  <Application>Microsoft Office PowerPoint</Application>
  <PresentationFormat>Widescreen</PresentationFormat>
  <Paragraphs>136</Paragraphs>
  <Slides>12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Arial,Sans-Serif</vt:lpstr>
      <vt:lpstr>Calibri </vt:lpstr>
      <vt:lpstr>Arial</vt:lpstr>
      <vt:lpstr>Calibri</vt:lpstr>
      <vt:lpstr>Calibri Light</vt:lpstr>
      <vt:lpstr>Cambria Math</vt:lpstr>
      <vt:lpstr>Times New Roman</vt:lpstr>
      <vt:lpstr>Office Theme</vt:lpstr>
      <vt:lpstr>2021 LSRB Intern Project​ -POC for high throughput phenotypic trait ​</vt:lpstr>
      <vt:lpstr>Sweet Corn Breeding Pipeline at a glance</vt:lpstr>
      <vt:lpstr>Sweet Corn Processor Market</vt:lpstr>
      <vt:lpstr>High throughput phenotyping transform our pipeline</vt:lpstr>
      <vt:lpstr>Ideal state: 2X phenotyping with representative phenotype for most important Processor Market</vt:lpstr>
      <vt:lpstr>Project plan road map</vt:lpstr>
      <vt:lpstr>Relationships between three key traits</vt:lpstr>
      <vt:lpstr>Heritability(%) estimation on entry-mean basis (Temperate)</vt:lpstr>
      <vt:lpstr>Digitally transforming our operations</vt:lpstr>
      <vt:lpstr>Impact</vt:lpstr>
      <vt:lpstr>The benefit</vt:lpstr>
      <vt:lpstr>One Team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 Zhu</dc:creator>
  <cp:lastModifiedBy>Dan Zhu</cp:lastModifiedBy>
  <cp:revision>112</cp:revision>
  <dcterms:created xsi:type="dcterms:W3CDTF">2021-06-21T17:44:21Z</dcterms:created>
  <dcterms:modified xsi:type="dcterms:W3CDTF">2021-08-12T12:42:19Z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0x010100F51FF54AC823124CB86B5F60EEF86D19</vt:lpwstr>
  </property>
  <property fmtid="{D5CDD505-2E9C-101B-9397-08002B2CF9AE}" pid="3" name="MSIP_Label_2c76c141-ac86-40e5-abf2-c6f60e474cee_Enabled">
    <vt:lpwstr>True</vt:lpwstr>
  </property>
  <property fmtid="{D5CDD505-2E9C-101B-9397-08002B2CF9AE}" pid="4" name="MSIP_Label_2c76c141-ac86-40e5-abf2-c6f60e474cee_SiteId">
    <vt:lpwstr>fcb2b37b-5da0-466b-9b83-0014b67a7c78</vt:lpwstr>
  </property>
  <property fmtid="{D5CDD505-2E9C-101B-9397-08002B2CF9AE}" pid="5" name="MSIP_Label_2c76c141-ac86-40e5-abf2-c6f60e474cee_Owner">
    <vt:lpwstr>dan.zhu1@bayer.com</vt:lpwstr>
  </property>
  <property fmtid="{D5CDD505-2E9C-101B-9397-08002B2CF9AE}" pid="6" name="MSIP_Label_2c76c141-ac86-40e5-abf2-c6f60e474cee_SetDate">
    <vt:lpwstr>2021-08-08T21:17:52.3206580Z</vt:lpwstr>
  </property>
  <property fmtid="{D5CDD505-2E9C-101B-9397-08002B2CF9AE}" pid="7" name="MSIP_Label_2c76c141-ac86-40e5-abf2-c6f60e474cee_Name">
    <vt:lpwstr>RESTRICTED</vt:lpwstr>
  </property>
  <property fmtid="{D5CDD505-2E9C-101B-9397-08002B2CF9AE}" pid="8" name="MSIP_Label_2c76c141-ac86-40e5-abf2-c6f60e474cee_Application">
    <vt:lpwstr>Microsoft Azure Information Protection</vt:lpwstr>
  </property>
  <property fmtid="{D5CDD505-2E9C-101B-9397-08002B2CF9AE}" pid="9" name="MSIP_Label_2c76c141-ac86-40e5-abf2-c6f60e474cee_Extended_MSFT_Method">
    <vt:lpwstr>Manual</vt:lpwstr>
  </property>
  <property fmtid="{D5CDD505-2E9C-101B-9397-08002B2CF9AE}" pid="10" name="Sensitivity">
    <vt:lpwstr>RESTRICTED</vt:lpwstr>
  </property>
</Properties>
</file>